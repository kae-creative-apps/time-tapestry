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TAYLOE: Forty-three percent of Americans over 50 name life lessons and values among the important things they want to leave behind. That is the legacy we want to help a family carry.</a:t>
            </a:r>
          </a:p>
          <a:p/>
          <a:p>
            <a:r>
              <a:t>EVIDENCE LIMITS: Edward Jones/Age Wave/Harris Poll online U.S. study, August 12–16, 2021, n=2,020 overall; older subgroup size not disclosed. Barna surveyed 516 U.S. Protestant senior pastors March 25–April 5, 2022, published October 25, 2023. Concern is not measured youth behavior. Women Give 2013 follows 903 children with 2002–03 and 2007–08 data; the 20% is an association, not percentage points or our predicted effect. For the short pitch, speak only the first statistic. The others support questions.</a:t>
            </a:r>
          </a:p>
          <a:p/>
          <a:p>
            <a:r>
              <a:t>SOURCES</a:t>
            </a:r>
          </a:p>
          <a:p>
            <a:r>
              <a:t>Edward Jones / Age Wave, 2021</a:t>
            </a:r>
          </a:p>
          <a:p>
            <a:r>
              <a:t>https://www.prnewswire.com/news-releases/pandemic-prompted-first-time-legacy-planning-conversations-for-44-5-million-americans-edward-jones-finds-301398039.html</a:t>
            </a:r>
          </a:p>
          <a:p>
            <a:r>
              <a:t>Barna, 2023 report</a:t>
            </a:r>
          </a:p>
          <a:p>
            <a:r>
              <a:t>https://www.barna.com/research/future-generosity/</a:t>
            </a:r>
          </a:p>
          <a:p>
            <a:r>
              <a:t>IU Women Give, 2013</a:t>
            </a:r>
          </a:p>
          <a:p>
            <a:r>
              <a:t>https://philanthropy.indianapolis.iu.edu/news-events/news/_news/2013/women-give-2013.html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TAYLOE: Time Tapestry helps someone put that legacy into four stories for the people they love. A family can participate together, or the storyteller can answer when they have time. They decide what to keep and approve before sharing.</a:t>
            </a:r>
          </a:p>
          <a:p/>
          <a:p>
            <a:r>
              <a:t>CURRENT SCOPE: Time Tapestry is the current project name. Do not return to grandchild-only wording. Christian faith and lived values are the fixed framing for new interviews. There is no framing dropdown. Church-sponsored cohorts are a proposed distribution model, not an implemented organization dashboard or a signed customer.</a:t>
            </a:r>
          </a:p>
          <a:p/>
          <a:p>
            <a:r>
              <a:t>SOURCES</a:t>
            </a:r>
          </a:p>
          <a:p>
            <a:r>
              <a:t>Build and QA evidence</a:t>
            </a:r>
          </a:p>
          <a:p>
            <a:r>
              <a:t>https://github.com/kae-creative-apps/time-tapestry/pull/1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KAELYN: The working browser journey lets a storyteller answer four sections and review each chapter. The prototype includes saved takes and transcript correction. Source changes invalidate the review, so an older approval cannot silently cover a new answer.</a:t>
            </a:r>
          </a:p>
          <a:p/>
          <a:p>
            <a:r>
              <a:t>SCREEN EVIDENCE: Screenshot is the October 2 local QA collection, with synthetic Alex Demo and Jamie Demo content. Typed answers, editing, approval, private synthetic-video playback and text replies were browser-tested. Voice/video code exists, but actual camera, microphone and phone recovery need a live check before claiming them demonstrated. Ten-minute per-take cap; suggest two to five minutes. Typed answers do not create footage of that person.</a:t>
            </a:r>
          </a:p>
          <a:p/>
          <a:p>
            <a:r>
              <a:t>SOURCES</a:t>
            </a:r>
          </a:p>
          <a:p>
            <a:r>
              <a:t>Build and QA evidence</a:t>
            </a:r>
          </a:p>
          <a:p>
            <a:r>
              <a:t>https://github.com/kae-creative-apps/time-tapestry/pull/1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KAELYN: I use Marco Polo to stay connected with people who live far away. We do not have to be free at the same time. Time Tapestry brings that same flexibility to stories of faith and generosity.</a:t>
            </a:r>
          </a:p>
          <a:p/>
          <a:p>
            <a:r>
              <a:t>TAYLOE, IF ASKED ABOUT MARKET: Marco Polo makes the behavior familiar. Storyworth and Remento show paid offers in the family-story category. Our hypothesis is that a focused Christian legacy gift, with physical encouragement and a response loop, gives families and sponsoring churches a reason to choose this experience.</a:t>
            </a:r>
          </a:p>
          <a:p/>
          <a:p>
            <a:r>
              <a:t>Do not claim Marco Polo proves our demand, people are more disconnected than ever, or that AI interviews and QR memories are unique. Remento already offers spoken-to-written chapters, QR recordings and immediate sharing; Storyworth offers guided interviews and family calls. Posted prices are not verified sales or our TAM.</a:t>
            </a:r>
          </a:p>
          <a:p/>
          <a:p>
            <a:r>
              <a:t>SOURCES</a:t>
            </a:r>
          </a:p>
          <a:p>
            <a:r>
              <a:t>Marco Polo, official fact sheet</a:t>
            </a:r>
          </a:p>
          <a:p>
            <a:r>
              <a:t>https://www.marcopolo.me/docs/marco-polo-fact-sheet.pdf</a:t>
            </a:r>
          </a:p>
          <a:p>
            <a:r>
              <a:t>Storyworth, pricing help</a:t>
            </a:r>
          </a:p>
          <a:p>
            <a:r>
              <a:t>https://help.storyworth.com/en_US/book-pricing</a:t>
            </a:r>
          </a:p>
          <a:p>
            <a:r>
              <a:t>Remento, pricing guide</a:t>
            </a:r>
          </a:p>
          <a:p>
            <a:r>
              <a:t>https://help.remento.co/en/articles/8365892-remento-s-pricing-guide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TAYLOE: The first postcard introduces the gift and opens all four approved chapters. The next three invite the recipient back at months three, six and nine. The encouragement can include Scripture the storyteller supplied and approved. The recipient can send a message back.</a:t>
            </a:r>
          </a:p>
          <a:p/>
          <a:p>
            <a:r>
              <a:t>SCOPE: Four cards span nine months after the first, not twelve. Shipping starts after approval and a confirmed address. Delayed mailing shifts later cards. A recipient fallback email is eligible fourteen days after confirmed mailing, subject to preferences and replies. No immediate recipient completion email spoils the gift. Mail and email adapters have local tests but no real delivery was performed. Do not show a fabricated scan or mailed status.</a:t>
            </a:r>
          </a:p>
          <a:p/>
          <a:p>
            <a:r>
              <a:t>SOURCES</a:t>
            </a:r>
          </a:p>
          <a:p>
            <a:r>
              <a:t>Build and QA evidence</a:t>
            </a:r>
          </a:p>
          <a:p>
            <a:r>
              <a:t>https://github.com/kae-creative-apps/time-tapestry/pull/1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TAYLOE: We will pilot with one church and ten families, measuring completed stories, meaningful conversations and whether families or sponsors value it enough to pay. Relationships and character are the intended impact; increased giving would need a separate study.</a:t>
            </a:r>
          </a:p>
          <a:p/>
          <a:p>
            <a:r>
              <a:t>VALIDATION: The pilot size is a proposed plan, not recruitment or a signed partnership. Compare follow-through with a simple interview-question sheet where feasible; a small exploratory pilot cannot prove causality. Track price and cost assumptions explicitly. Potential buyers are the family gift purchaser and a church or nonprofit sponsoring families. A church-led multi-family dashboard, billing and sponsor controls are not built. Do not promise access to private stories as a sponsor benefit.</a:t>
            </a:r>
          </a:p>
          <a:p/>
          <a:p>
            <a:r>
              <a:t>SOURCES</a:t>
            </a:r>
          </a:p>
          <a:p>
            <a:r>
              <a:t>Build and QA evidence</a:t>
            </a:r>
          </a:p>
          <a:p>
            <a:r>
              <a:t>https://github.com/kae-creative-apps/time-tapestry/pull/1</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KAELYN: The AI connections for questions, transcription and story drafting are implemented. Live validation remains. Our local video workflow combines HyperFrames and Remotion, with a person reviewing the edits, captions and meaning.</a:t>
            </a:r>
          </a:p>
          <a:p/>
          <a:p>
            <a:r>
              <a:t>ACTUAL CODE: Gloo default model gloo-google-gemini-2.5-flash; ElevenLabs default model eleven_turbo_v2_5; OpenAI Whisper transcription. No keys means source-text drafts and explicitly labelled device speech. The October 2 local demo did not have an ElevenLabs key. The hosted preview requires Vercel login, so the actual configured voice has not been auditioned. Never describe the device fallback as ElevenLabs. Video originals remain archived. Optional ElevenLabs audio isolation exists but was not tested on real speech. Only replace these status labels after a recorded working provider check.</a:t>
            </a:r>
          </a:p>
          <a:p/>
          <a:p>
            <a:r>
              <a:t>SOURCES</a:t>
            </a:r>
          </a:p>
          <a:p>
            <a:r>
              <a:t>Build and QA evidence</a:t>
            </a:r>
          </a:p>
          <a:p>
            <a:r>
              <a:t>https://github.com/kae-creative-apps/time-tapestry/pull/1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 REHEARSAL NOTES: This is an editable master deck, not a recommendation to rush through every slide. The current official rules call for a 90-second solution summary and a demo video no longer than 90 seconds. They do not give us permission to add a long pitch on top. The condensed script is supplied alongside the deck and in notes on the selected slides. Slides 3 and 5 support a longer walkthrough or questions; 8 and 9 are production cues. Time the actual delivery and leave room for one short screen action. Kaelyn fills out the form.</a:t>
            </a:r>
          </a:p>
          <a:p/>
          <a:p>
            <a:r>
              <a:t>SOURCES</a:t>
            </a:r>
          </a:p>
          <a:p>
            <a:r>
              <a:t>Gloo, official rules</a:t>
            </a:r>
          </a:p>
          <a:p>
            <a:r>
              <a:t>https://docs.google.com/document/d/1jmH6lnQkI_B9YQeHT12pCanQI8W4yoE_yK3EO2IWaeQ/edit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EDIT: Show a consenting person answering one meaningful question, selecting their take, reviewing a chapter, opening the approved collection and responding. Do not film or record a third party without consent. Use the actual working typed path if live voice/video is not yet validated, and label it honestly. Existing render samples are synthetic technical fixtures, not family testimony. Show scheduled postcards as scheduled. A QR destination can be demonstrated without implying a physical card was delivered. Include readable captions and the approved logo closer. Keep the final video at or below 90 seconds.</a:t>
            </a:r>
          </a:p>
          <a:p/>
          <a:p>
            <a:r>
              <a:t>SOURCES</a:t>
            </a:r>
          </a:p>
          <a:p>
            <a:r>
              <a:t>Gloo, official rules</a:t>
            </a:r>
          </a:p>
          <a:p>
            <a:r>
              <a:t>https://docs.google.com/document/d/1jmH6lnQkI_B9YQeHT12pCanQI8W4yoE_yK3EO2IWaeQ/edit</a:t>
            </a:r>
          </a:p>
          <a:p>
            <a:r>
              <a:t>Build and QA evidence</a:t>
            </a:r>
          </a:p>
          <a:p>
            <a:r>
              <a:t>https://github.com/kae-creative-apps/time-tapestry/pull/1</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TAYLOE: We want families to have stories they can return to and a conversation they can continue. That is the legacy we are building for.</a:t>
            </a:r>
          </a:p>
          <a:p/>
          <a:p>
            <a:r>
              <a:t>JUDGING MAP: Concept is the controlled journey; innovation is the focused combination rather than an invented claim that other products lack recording or QR codes; impact is a testable family and sponsor hypothesis; AI is the implemented assistance with explicit validation limits; presentation is the actual working demonstration. End with the family outcome, then answer questions with the appendix.</a:t>
            </a:r>
          </a:p>
          <a:p/>
          <a:p>
            <a:r>
              <a:t>SOURCES</a:t>
            </a:r>
          </a:p>
          <a:p>
            <a:r>
              <a:t>Gloo, official rules</a:t>
            </a:r>
          </a:p>
          <a:p>
            <a:r>
              <a:t>https://docs.google.com/document/d/1jmH6lnQkI_B9YQeHT12pCanQI8W4yoE_yK3EO2IWaeQ/edit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ANSWER: We encourage families to have those conversations themselves. Time Tapestry gives them a way to begin when they cannot be in the same room or find the same free hour. A parent can answer thoughtful questions in their own time, approve what they share, and give family stories they can revisit and respond to. The postcards create another invitation to return. We will test whether that structure helps families finish and whether it is worth paying for.</a:t>
            </a:r>
          </a:p>
          <a:p/>
          <a:p>
            <a:r>
              <a:t>OPTIONAL PERSONAL OPENING: Kaelyn can describe how she actually uses Marco Polo for long-distance relationships. Do not make up a testimonial, a family emergency or a paying customer. This expanded answer replaces part of a longer presentation; do not add it to the full 90-second script.</a:t>
            </a:r>
          </a:p>
          <a:p/>
          <a:p>
            <a:r>
              <a:t>SOURCES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AND LIMITS: Marco Polo fact sheet is undated. Use its functionality, not its unmethodologized daily-user claim. Storyworth dated help article updated September 10, 2026 lists $69, $99 and $199 plans; a marketing FAQ contains conflicting prices, so cite the dated help source. Remento pricing guide was checked October 2, 2026; the $99 package includes one year and a book credit, with optional continuation. A posted offer does not establish sales volume. Do not extrapolate TAM from these prices. Pew published May 18, 2022, with October 18–24, 2021 American Trends Panel fieldwork, n=9,676 U.S. adults, weighted. Extended family excludes household members. The 20% measures distance only.</a:t>
            </a:r>
          </a:p>
          <a:p/>
          <a:p>
            <a:r>
              <a:t>NEXT DEMAND EVIDENCE: Seek completed stories, comparative feedback against a prompt sheet, an actual paid purchase or a written sponsor commitment, and real support/fulfillment costs. Church cohorts remain a hypothesis.</a:t>
            </a:r>
          </a:p>
          <a:p/>
          <a:p>
            <a:r>
              <a:t>SOURCES</a:t>
            </a:r>
          </a:p>
          <a:p>
            <a:r>
              <a:t>Marco Polo, official fact sheet</a:t>
            </a:r>
          </a:p>
          <a:p>
            <a:r>
              <a:t>https://www.marcopolo.me/docs/marco-polo-fact-sheet.pdf</a:t>
            </a:r>
          </a:p>
          <a:p>
            <a:r>
              <a:t>Storyworth, pricing help</a:t>
            </a:r>
          </a:p>
          <a:p>
            <a:r>
              <a:t>https://help.storyworth.com/en_US/book-pricing</a:t>
            </a:r>
          </a:p>
          <a:p>
            <a:r>
              <a:t>Remento, pricing guide</a:t>
            </a:r>
          </a:p>
          <a:p>
            <a:r>
              <a:t>https://help.remento.co/en/articles/8365892-remento-s-pricing-guide</a:t>
            </a:r>
          </a:p>
          <a:p>
            <a:r>
              <a:t>Pew Research Center, 2022</a:t>
            </a:r>
          </a:p>
          <a:p>
            <a:r>
              <a:t>https://www.pewresearch.org/short-reads/2022/05/18/more-than-half-of-americans-live-within-an-hour-of-extended-family/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EDITORIAL HANDOFF: The original True Legacy Editable Pitch Draft v2 remains unchanged. This version updates the project name, removes assumed grandchild language, reinstates the requested reply feature, uses immediate access with four cards, and adds Kaelyn’s asynchronous-connection argument. All text, diagrams and tables are editable. The app screenshot is a placed image. The video slot is not an embedded movie.</a:t>
            </a:r>
          </a:p>
          <a:p/>
          <a:p>
            <a:r>
              <a:t>Design reference: existing Time Tapestry product at October 2, using warm paper, ink, oxblood, editorial serif titles and restrained sans-serif supporting text. Georgia and Arial are used as portable presentation fonts; they are not a new brand decision. The existing v2 deck supplies the rubric order and data-first structure. Refero audit references supplied earlier informed the product design.</a:t>
            </a:r>
          </a:p>
          <a:p/>
          <a:p>
            <a:r>
              <a:t>Do not remove live-provider status labels until the relevant check passes. Claims in earlier notes about removing replies or locking quarterly content are superseded.</a:t>
            </a:r>
          </a:p>
          <a:p/>
          <a:p>
            <a:r>
              <a:t>SOURCES</a:t>
            </a:r>
          </a:p>
          <a:p>
            <a:r>
              <a:t>Edward Jones / Age Wave, 2021</a:t>
            </a:r>
          </a:p>
          <a:p>
            <a:r>
              <a:t>https://www.prnewswire.com/news-releases/pandemic-prompted-first-time-legacy-planning-conversations-for-44-5-million-americans-edward-jones-finds-301398039.html</a:t>
            </a:r>
          </a:p>
          <a:p>
            <a:r>
              <a:t>Barna, 2023 report</a:t>
            </a:r>
          </a:p>
          <a:p>
            <a:r>
              <a:t>https://www.barna.com/research/future-generosity/</a:t>
            </a:r>
          </a:p>
          <a:p>
            <a:r>
              <a:t>IU Women Give, 2013</a:t>
            </a:r>
          </a:p>
          <a:p>
            <a:r>
              <a:t>https://philanthropy.indianapolis.iu.edu/news-events/news/_news/2013/women-give-2013.html</a:t>
            </a:r>
          </a:p>
          <a:p>
            <a:r>
              <a:t>Marco Polo, official fact sheet</a:t>
            </a:r>
          </a:p>
          <a:p>
            <a:r>
              <a:t>https://www.marcopolo.me/docs/marco-polo-fact-sheet.pdf</a:t>
            </a:r>
          </a:p>
          <a:p>
            <a:r>
              <a:t>Pew Research Center, 2022</a:t>
            </a:r>
          </a:p>
          <a:p>
            <a:r>
              <a:t>https://www.pewresearch.org/short-reads/2022/05/18/more-than-half-of-americans-live-within-an-hour-of-extended-family/</a:t>
            </a:r>
          </a:p>
          <a:p>
            <a:r>
              <a:t>Storyworth, pricing help</a:t>
            </a:r>
          </a:p>
          <a:p>
            <a:r>
              <a:t>https://help.storyworth.com/en_US/book-pricing</a:t>
            </a:r>
          </a:p>
          <a:p>
            <a:r>
              <a:t>Remento, pricing guide</a:t>
            </a:r>
          </a:p>
          <a:p>
            <a:r>
              <a:t>https://help.remento.co/en/articles/8365892-remento-s-pricing-guide</a:t>
            </a:r>
          </a:p>
          <a:p>
            <a:r>
              <a:t>Gloo, official rules</a:t>
            </a:r>
          </a:p>
          <a:p>
            <a:r>
              <a:t>https://docs.google.com/document/d/1jmH6lnQkI_B9YQeHT12pCanQI8W4yoE_yK3EO2IWaeQ/edit</a:t>
            </a:r>
          </a:p>
          <a:p>
            <a:r>
              <a:t>Build and QA evidence</a:t>
            </a:r>
          </a:p>
          <a:p>
            <a:r>
              <a:t>https://github.com/kae-creative-apps/time-tapestry/pull/1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rnewswire.com/news-releases/pandemic-prompted-first-time-legacy-planning-conversations-for-44-5-million-americans-edward-jones-finds-301398039.html" TargetMode="External"/><Relationship Id="rId3" Type="http://schemas.openxmlformats.org/officeDocument/2006/relationships/hyperlink" Target="https://www.barna.com/research/future-generosity/" TargetMode="External"/><Relationship Id="rId4" Type="http://schemas.openxmlformats.org/officeDocument/2006/relationships/hyperlink" Target="https://philanthropy.indianapolis.iu.edu/news-events/news/_news/2013/women-give-2013.html"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prnewswire.com/news-releases/pandemic-prompted-first-time-legacy-planning-conversations-for-44-5-million-americans-edward-jones-finds-301398039.html" TargetMode="External"/><Relationship Id="rId3" Type="http://schemas.openxmlformats.org/officeDocument/2006/relationships/hyperlink" Target="https://www.barna.com/research/future-generosity/" TargetMode="External"/><Relationship Id="rId4" Type="http://schemas.openxmlformats.org/officeDocument/2006/relationships/hyperlink" Target="https://philanthropy.indianapolis.iu.edu/news-events/news/_news/2013/women-give-2013.html" TargetMode="External"/><Relationship Id="rId5" Type="http://schemas.openxmlformats.org/officeDocument/2006/relationships/hyperlink" Target="https://www.marcopolo.me/docs/marco-polo-fact-sheet.pdf" TargetMode="External"/><Relationship Id="rId6" Type="http://schemas.openxmlformats.org/officeDocument/2006/relationships/hyperlink" Target="https://www.pewresearch.org/short-reads/2022/05/18/more-than-half-of-americans-live-within-an-hour-of-extended-family/" TargetMode="External"/><Relationship Id="rId7" Type="http://schemas.openxmlformats.org/officeDocument/2006/relationships/hyperlink" Target="https://help.storyworth.com/en_US/book-pricing" TargetMode="External"/><Relationship Id="rId8" Type="http://schemas.openxmlformats.org/officeDocument/2006/relationships/hyperlink" Target="https://help.remento.co/en/articles/8365892-remento-s-pricing-guide" TargetMode="External"/><Relationship Id="rId9" Type="http://schemas.openxmlformats.org/officeDocument/2006/relationships/hyperlink" Target="https://docs.google.com/document/d/1jmH6lnQkI_B9YQeHT12pCanQI8W4yoE_yK3EO2IWaeQ/edit" TargetMode="External"/><Relationship Id="rId10" Type="http://schemas.openxmlformats.org/officeDocument/2006/relationships/hyperlink" Target="https://github.com/kae-creative-apps/time-tapestry/pull/1" TargetMode="External"/><Relationship Id="rId11"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CONCEPT / PRODUCT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01</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The stories behind a life are worth passing on.</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1965960"/>
            <a:ext cx="3474720" cy="987552"/>
          </a:xfrm>
          <a:prstGeom prst="rect">
            <a:avLst/>
          </a:prstGeom>
          <a:noFill/>
        </p:spPr>
        <p:txBody>
          <a:bodyPr wrap="square" lIns="0" rIns="0" tIns="0" bIns="0">
            <a:spAutoFit/>
          </a:bodyPr>
          <a:lstStyle/>
          <a:p>
            <a:pPr algn="l">
              <a:lnSpc>
                <a:spcPct val="110000"/>
              </a:lnSpc>
              <a:spcAft>
                <a:spcPts val="500"/>
              </a:spcAft>
            </a:pPr>
            <a:r>
              <a:rPr sz="6500" b="0">
                <a:solidFill>
                  <a:srgbClr val="7A2E2E"/>
                </a:solidFill>
                <a:latin typeface="Georgia"/>
              </a:rPr>
              <a:t>43%</a:t>
            </a:r>
          </a:p>
        </p:txBody>
      </p:sp>
      <p:sp>
        <p:nvSpPr>
          <p:cNvPr id="8" name="TextBox 7"/>
          <p:cNvSpPr txBox="1"/>
          <p:nvPr/>
        </p:nvSpPr>
        <p:spPr>
          <a:xfrm>
            <a:off x="594360" y="3273552"/>
            <a:ext cx="3355848" cy="1691640"/>
          </a:xfrm>
          <a:prstGeom prst="rect">
            <a:avLst/>
          </a:prstGeom>
          <a:noFill/>
        </p:spPr>
        <p:txBody>
          <a:bodyPr wrap="square" lIns="0" rIns="0" tIns="0" bIns="0">
            <a:spAutoFit/>
          </a:bodyPr>
          <a:lstStyle/>
          <a:p>
            <a:pPr algn="l">
              <a:lnSpc>
                <a:spcPct val="110000"/>
              </a:lnSpc>
              <a:spcAft>
                <a:spcPts val="500"/>
              </a:spcAft>
            </a:pPr>
            <a:r>
              <a:rPr sz="2100" b="0">
                <a:solidFill>
                  <a:srgbClr val="2A2520"/>
                </a:solidFill>
                <a:latin typeface="Arial"/>
              </a:rPr>
              <a:t>of Americans 50+ named</a:t>
            </a:r>
          </a:p>
          <a:p>
            <a:pPr algn="l">
              <a:lnSpc>
                <a:spcPct val="110000"/>
              </a:lnSpc>
              <a:spcAft>
                <a:spcPts val="500"/>
              </a:spcAft>
            </a:pPr>
            <a:r>
              <a:rPr sz="2100" b="0">
                <a:solidFill>
                  <a:srgbClr val="2A2520"/>
                </a:solidFill>
                <a:latin typeface="Arial"/>
              </a:rPr>
              <a:t>life lessons and values</a:t>
            </a:r>
          </a:p>
          <a:p>
            <a:pPr algn="l">
              <a:lnSpc>
                <a:spcPct val="110000"/>
              </a:lnSpc>
              <a:spcAft>
                <a:spcPts val="500"/>
              </a:spcAft>
            </a:pPr>
            <a:r>
              <a:rPr sz="2100" b="0">
                <a:solidFill>
                  <a:srgbClr val="2A2520"/>
                </a:solidFill>
                <a:latin typeface="Arial"/>
              </a:rPr>
              <a:t>among their most</a:t>
            </a:r>
          </a:p>
          <a:p>
            <a:pPr algn="l">
              <a:lnSpc>
                <a:spcPct val="110000"/>
              </a:lnSpc>
              <a:spcAft>
                <a:spcPts val="500"/>
              </a:spcAft>
            </a:pPr>
            <a:r>
              <a:rPr sz="2100" b="0">
                <a:solidFill>
                  <a:srgbClr val="2A2520"/>
                </a:solidFill>
                <a:latin typeface="Arial"/>
              </a:rPr>
              <a:t>important legacies.</a:t>
            </a:r>
          </a:p>
        </p:txBody>
      </p:sp>
      <p:sp>
        <p:nvSpPr>
          <p:cNvPr id="9" name="TextBox 8"/>
          <p:cNvSpPr txBox="1"/>
          <p:nvPr/>
        </p:nvSpPr>
        <p:spPr>
          <a:xfrm>
            <a:off x="594360" y="5321808"/>
            <a:ext cx="3383280" cy="45720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hlinkClick r:id="rId2"/>
              </a:rPr>
              <a:t>Edward Jones / Age Wave, 2021</a:t>
            </a:r>
          </a:p>
        </p:txBody>
      </p:sp>
      <p:sp>
        <p:nvSpPr>
          <p:cNvPr id="10" name="TextBox 9"/>
          <p:cNvSpPr txBox="1"/>
          <p:nvPr/>
        </p:nvSpPr>
        <p:spPr>
          <a:xfrm>
            <a:off x="4370832" y="1965960"/>
            <a:ext cx="3474720" cy="987552"/>
          </a:xfrm>
          <a:prstGeom prst="rect">
            <a:avLst/>
          </a:prstGeom>
          <a:noFill/>
        </p:spPr>
        <p:txBody>
          <a:bodyPr wrap="square" lIns="0" rIns="0" tIns="0" bIns="0">
            <a:spAutoFit/>
          </a:bodyPr>
          <a:lstStyle/>
          <a:p>
            <a:pPr algn="l">
              <a:lnSpc>
                <a:spcPct val="110000"/>
              </a:lnSpc>
              <a:spcAft>
                <a:spcPts val="500"/>
              </a:spcAft>
            </a:pPr>
            <a:r>
              <a:rPr sz="6500" b="0">
                <a:solidFill>
                  <a:srgbClr val="7A2E2E"/>
                </a:solidFill>
                <a:latin typeface="Georgia"/>
              </a:rPr>
              <a:t>51%</a:t>
            </a:r>
          </a:p>
        </p:txBody>
      </p:sp>
      <p:sp>
        <p:nvSpPr>
          <p:cNvPr id="11" name="TextBox 10"/>
          <p:cNvSpPr txBox="1"/>
          <p:nvPr/>
        </p:nvSpPr>
        <p:spPr>
          <a:xfrm>
            <a:off x="4370832" y="3273552"/>
            <a:ext cx="3355848" cy="1691640"/>
          </a:xfrm>
          <a:prstGeom prst="rect">
            <a:avLst/>
          </a:prstGeom>
          <a:noFill/>
        </p:spPr>
        <p:txBody>
          <a:bodyPr wrap="square" lIns="0" rIns="0" tIns="0" bIns="0">
            <a:spAutoFit/>
          </a:bodyPr>
          <a:lstStyle/>
          <a:p>
            <a:pPr algn="l">
              <a:lnSpc>
                <a:spcPct val="110000"/>
              </a:lnSpc>
              <a:spcAft>
                <a:spcPts val="500"/>
              </a:spcAft>
            </a:pPr>
            <a:r>
              <a:rPr sz="2100" b="0">
                <a:solidFill>
                  <a:srgbClr val="2A2520"/>
                </a:solidFill>
                <a:latin typeface="Arial"/>
              </a:rPr>
              <a:t>of surveyed Protestant</a:t>
            </a:r>
          </a:p>
          <a:p>
            <a:pPr algn="l">
              <a:lnSpc>
                <a:spcPct val="110000"/>
              </a:lnSpc>
              <a:spcAft>
                <a:spcPts val="500"/>
              </a:spcAft>
            </a:pPr>
            <a:r>
              <a:rPr sz="2100" b="0">
                <a:solidFill>
                  <a:srgbClr val="2A2520"/>
                </a:solidFill>
                <a:latin typeface="Arial"/>
              </a:rPr>
              <a:t>senior pastors were very</a:t>
            </a:r>
          </a:p>
          <a:p>
            <a:pPr algn="l">
              <a:lnSpc>
                <a:spcPct val="110000"/>
              </a:lnSpc>
              <a:spcAft>
                <a:spcPts val="500"/>
              </a:spcAft>
            </a:pPr>
            <a:r>
              <a:rPr sz="2100" b="0">
                <a:solidFill>
                  <a:srgbClr val="2A2520"/>
                </a:solidFill>
                <a:latin typeface="Arial"/>
              </a:rPr>
              <a:t>concerned about younger</a:t>
            </a:r>
          </a:p>
          <a:p>
            <a:pPr algn="l">
              <a:lnSpc>
                <a:spcPct val="110000"/>
              </a:lnSpc>
              <a:spcAft>
                <a:spcPts val="500"/>
              </a:spcAft>
            </a:pPr>
            <a:r>
              <a:rPr sz="2100" b="0">
                <a:solidFill>
                  <a:srgbClr val="2A2520"/>
                </a:solidFill>
                <a:latin typeface="Arial"/>
              </a:rPr>
              <a:t>Christians’ financial support.</a:t>
            </a:r>
          </a:p>
        </p:txBody>
      </p:sp>
      <p:sp>
        <p:nvSpPr>
          <p:cNvPr id="12" name="TextBox 11"/>
          <p:cNvSpPr txBox="1"/>
          <p:nvPr/>
        </p:nvSpPr>
        <p:spPr>
          <a:xfrm>
            <a:off x="4370832" y="5321808"/>
            <a:ext cx="3383280" cy="45720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hlinkClick r:id="rId3"/>
              </a:rPr>
              <a:t>Barna, 2023 report</a:t>
            </a:r>
          </a:p>
        </p:txBody>
      </p:sp>
      <p:sp>
        <p:nvSpPr>
          <p:cNvPr id="13" name="TextBox 12"/>
          <p:cNvSpPr txBox="1"/>
          <p:nvPr/>
        </p:nvSpPr>
        <p:spPr>
          <a:xfrm>
            <a:off x="8147304" y="1965960"/>
            <a:ext cx="3474720" cy="987552"/>
          </a:xfrm>
          <a:prstGeom prst="rect">
            <a:avLst/>
          </a:prstGeom>
          <a:noFill/>
        </p:spPr>
        <p:txBody>
          <a:bodyPr wrap="square" lIns="0" rIns="0" tIns="0" bIns="0">
            <a:spAutoFit/>
          </a:bodyPr>
          <a:lstStyle/>
          <a:p>
            <a:pPr algn="l">
              <a:lnSpc>
                <a:spcPct val="110000"/>
              </a:lnSpc>
              <a:spcAft>
                <a:spcPts val="500"/>
              </a:spcAft>
            </a:pPr>
            <a:r>
              <a:rPr sz="6500" b="0">
                <a:solidFill>
                  <a:srgbClr val="7A2E2E"/>
                </a:solidFill>
                <a:latin typeface="Georgia"/>
              </a:rPr>
              <a:t>20%</a:t>
            </a:r>
          </a:p>
        </p:txBody>
      </p:sp>
      <p:sp>
        <p:nvSpPr>
          <p:cNvPr id="14" name="TextBox 13"/>
          <p:cNvSpPr txBox="1"/>
          <p:nvPr/>
        </p:nvSpPr>
        <p:spPr>
          <a:xfrm>
            <a:off x="8147304" y="3273552"/>
            <a:ext cx="3355848" cy="1691640"/>
          </a:xfrm>
          <a:prstGeom prst="rect">
            <a:avLst/>
          </a:prstGeom>
          <a:noFill/>
        </p:spPr>
        <p:txBody>
          <a:bodyPr wrap="square" lIns="0" rIns="0" tIns="0" bIns="0">
            <a:spAutoFit/>
          </a:bodyPr>
          <a:lstStyle/>
          <a:p>
            <a:pPr algn="l">
              <a:lnSpc>
                <a:spcPct val="110000"/>
              </a:lnSpc>
              <a:spcAft>
                <a:spcPts val="500"/>
              </a:spcAft>
            </a:pPr>
            <a:r>
              <a:rPr sz="2100" b="0">
                <a:solidFill>
                  <a:srgbClr val="2A2520"/>
                </a:solidFill>
                <a:latin typeface="Arial"/>
              </a:rPr>
              <a:t>greater likelihood of giving</a:t>
            </a:r>
          </a:p>
          <a:p>
            <a:pPr algn="l">
              <a:lnSpc>
                <a:spcPct val="110000"/>
              </a:lnSpc>
              <a:spcAft>
                <a:spcPts val="500"/>
              </a:spcAft>
            </a:pPr>
            <a:r>
              <a:rPr sz="2100" b="0">
                <a:solidFill>
                  <a:srgbClr val="2A2520"/>
                </a:solidFill>
                <a:latin typeface="Arial"/>
              </a:rPr>
              <a:t>among children whose</a:t>
            </a:r>
          </a:p>
          <a:p>
            <a:pPr algn="l">
              <a:lnSpc>
                <a:spcPct val="110000"/>
              </a:lnSpc>
              <a:spcAft>
                <a:spcPts val="500"/>
              </a:spcAft>
            </a:pPr>
            <a:r>
              <a:rPr sz="2100" b="0">
                <a:solidFill>
                  <a:srgbClr val="2A2520"/>
                </a:solidFill>
                <a:latin typeface="Arial"/>
              </a:rPr>
              <a:t>parents discussed giving</a:t>
            </a:r>
          </a:p>
          <a:p>
            <a:pPr algn="l">
              <a:lnSpc>
                <a:spcPct val="110000"/>
              </a:lnSpc>
              <a:spcAft>
                <a:spcPts val="500"/>
              </a:spcAft>
            </a:pPr>
            <a:r>
              <a:rPr sz="2100" b="0">
                <a:solidFill>
                  <a:srgbClr val="2A2520"/>
                </a:solidFill>
                <a:latin typeface="Arial"/>
              </a:rPr>
              <a:t>with them.</a:t>
            </a:r>
          </a:p>
        </p:txBody>
      </p:sp>
      <p:sp>
        <p:nvSpPr>
          <p:cNvPr id="15" name="TextBox 14"/>
          <p:cNvSpPr txBox="1"/>
          <p:nvPr/>
        </p:nvSpPr>
        <p:spPr>
          <a:xfrm>
            <a:off x="8147304" y="5321808"/>
            <a:ext cx="3383280" cy="45720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hlinkClick r:id="rId4"/>
              </a:rPr>
              <a:t>IU Women Give, 2013</a:t>
            </a:r>
          </a:p>
        </p:txBody>
      </p:sp>
      <p:sp>
        <p:nvSpPr>
          <p:cNvPr id="16" name="TextBox 15"/>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Different studies: legacy preferences, pastor concern and an association. None proves our product works.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CONCEPT / PRODUCT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02</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Time Tapestry</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1874519"/>
            <a:ext cx="5486400" cy="1508760"/>
          </a:xfrm>
          <a:prstGeom prst="rect">
            <a:avLst/>
          </a:prstGeom>
          <a:noFill/>
        </p:spPr>
        <p:txBody>
          <a:bodyPr wrap="square" lIns="0" rIns="0" tIns="0" bIns="0">
            <a:spAutoFit/>
          </a:bodyPr>
          <a:lstStyle/>
          <a:p>
            <a:pPr algn="l">
              <a:lnSpc>
                <a:spcPct val="110000"/>
              </a:lnSpc>
              <a:spcAft>
                <a:spcPts val="500"/>
              </a:spcAft>
            </a:pPr>
            <a:r>
              <a:rPr sz="3800" b="0">
                <a:solidFill>
                  <a:srgbClr val="2A2520"/>
                </a:solidFill>
                <a:latin typeface="Georgia"/>
              </a:rPr>
              <a:t>Make room for the stories</a:t>
            </a:r>
          </a:p>
          <a:p>
            <a:pPr algn="l">
              <a:lnSpc>
                <a:spcPct val="110000"/>
              </a:lnSpc>
              <a:spcAft>
                <a:spcPts val="500"/>
              </a:spcAft>
            </a:pPr>
            <a:r>
              <a:rPr sz="3800" b="0">
                <a:solidFill>
                  <a:srgbClr val="2A2520"/>
                </a:solidFill>
                <a:latin typeface="Georgia"/>
              </a:rPr>
              <a:t>that shaped a life.</a:t>
            </a:r>
          </a:p>
        </p:txBody>
      </p:sp>
      <p:sp>
        <p:nvSpPr>
          <p:cNvPr id="8" name="TextBox 7"/>
          <p:cNvSpPr txBox="1"/>
          <p:nvPr/>
        </p:nvSpPr>
        <p:spPr>
          <a:xfrm>
            <a:off x="594360" y="3730752"/>
            <a:ext cx="5166360" cy="137160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Arial"/>
              </a:rPr>
              <a:t>A Christian legacy gift that helps families pass on faith, character and generosity through personal stories.</a:t>
            </a:r>
          </a:p>
        </p:txBody>
      </p:sp>
      <p:sp>
        <p:nvSpPr>
          <p:cNvPr id="9" name="TextBox 8"/>
          <p:cNvSpPr txBox="1"/>
          <p:nvPr/>
        </p:nvSpPr>
        <p:spPr>
          <a:xfrm>
            <a:off x="6583680" y="1947672"/>
            <a:ext cx="502920" cy="365760"/>
          </a:xfrm>
          <a:prstGeom prst="rect">
            <a:avLst/>
          </a:prstGeom>
          <a:noFill/>
        </p:spPr>
        <p:txBody>
          <a:bodyPr wrap="square" lIns="0" rIns="0" tIns="0" bIns="0">
            <a:spAutoFit/>
          </a:bodyPr>
          <a:lstStyle/>
          <a:p>
            <a:pPr algn="l">
              <a:lnSpc>
                <a:spcPct val="110000"/>
              </a:lnSpc>
              <a:spcAft>
                <a:spcPts val="500"/>
              </a:spcAft>
            </a:pPr>
            <a:r>
              <a:rPr sz="1500" b="0">
                <a:solidFill>
                  <a:srgbClr val="7A2E2E"/>
                </a:solidFill>
                <a:latin typeface="Arial"/>
              </a:rPr>
              <a:t>01</a:t>
            </a:r>
          </a:p>
        </p:txBody>
      </p:sp>
      <p:sp>
        <p:nvSpPr>
          <p:cNvPr id="10" name="TextBox 9"/>
          <p:cNvSpPr txBox="1"/>
          <p:nvPr/>
        </p:nvSpPr>
        <p:spPr>
          <a:xfrm>
            <a:off x="7242048" y="1947672"/>
            <a:ext cx="4251960" cy="41148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Answer in your own time.</a:t>
            </a:r>
          </a:p>
        </p:txBody>
      </p:sp>
      <p:sp>
        <p:nvSpPr>
          <p:cNvPr id="11" name="TextBox 10"/>
          <p:cNvSpPr txBox="1"/>
          <p:nvPr/>
        </p:nvSpPr>
        <p:spPr>
          <a:xfrm>
            <a:off x="7242048" y="2459736"/>
            <a:ext cx="4251960" cy="594360"/>
          </a:xfrm>
          <a:prstGeom prst="rect">
            <a:avLst/>
          </a:prstGeom>
          <a:noFill/>
        </p:spPr>
        <p:txBody>
          <a:bodyPr wrap="square" lIns="0" rIns="0" tIns="0" bIns="0">
            <a:spAutoFit/>
          </a:bodyPr>
          <a:lstStyle/>
          <a:p>
            <a:pPr algn="l">
              <a:lnSpc>
                <a:spcPct val="110000"/>
              </a:lnSpc>
              <a:spcAft>
                <a:spcPts val="500"/>
              </a:spcAft>
            </a:pPr>
            <a:r>
              <a:rPr sz="1700" b="0">
                <a:solidFill>
                  <a:srgbClr val="6B6358"/>
                </a:solidFill>
                <a:latin typeface="Arial"/>
              </a:rPr>
              <a:t>Four sections. Voice, video or typing.</a:t>
            </a:r>
          </a:p>
        </p:txBody>
      </p:sp>
      <p:sp>
        <p:nvSpPr>
          <p:cNvPr id="12" name="TextBox 11"/>
          <p:cNvSpPr txBox="1"/>
          <p:nvPr/>
        </p:nvSpPr>
        <p:spPr>
          <a:xfrm>
            <a:off x="6583680" y="3182112"/>
            <a:ext cx="502920" cy="365760"/>
          </a:xfrm>
          <a:prstGeom prst="rect">
            <a:avLst/>
          </a:prstGeom>
          <a:noFill/>
        </p:spPr>
        <p:txBody>
          <a:bodyPr wrap="square" lIns="0" rIns="0" tIns="0" bIns="0">
            <a:spAutoFit/>
          </a:bodyPr>
          <a:lstStyle/>
          <a:p>
            <a:pPr algn="l">
              <a:lnSpc>
                <a:spcPct val="110000"/>
              </a:lnSpc>
              <a:spcAft>
                <a:spcPts val="500"/>
              </a:spcAft>
            </a:pPr>
            <a:r>
              <a:rPr sz="1500" b="0">
                <a:solidFill>
                  <a:srgbClr val="7A2E2E"/>
                </a:solidFill>
                <a:latin typeface="Arial"/>
              </a:rPr>
              <a:t>02</a:t>
            </a:r>
          </a:p>
        </p:txBody>
      </p:sp>
      <p:sp>
        <p:nvSpPr>
          <p:cNvPr id="13" name="TextBox 12"/>
          <p:cNvSpPr txBox="1"/>
          <p:nvPr/>
        </p:nvSpPr>
        <p:spPr>
          <a:xfrm>
            <a:off x="7242048" y="3182112"/>
            <a:ext cx="4251960" cy="41148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Choose what you share.</a:t>
            </a:r>
          </a:p>
        </p:txBody>
      </p:sp>
      <p:sp>
        <p:nvSpPr>
          <p:cNvPr id="14" name="TextBox 13"/>
          <p:cNvSpPr txBox="1"/>
          <p:nvPr/>
        </p:nvSpPr>
        <p:spPr>
          <a:xfrm>
            <a:off x="7242048" y="3694176"/>
            <a:ext cx="4251960" cy="594360"/>
          </a:xfrm>
          <a:prstGeom prst="rect">
            <a:avLst/>
          </a:prstGeom>
          <a:noFill/>
        </p:spPr>
        <p:txBody>
          <a:bodyPr wrap="square" lIns="0" rIns="0" tIns="0" bIns="0">
            <a:spAutoFit/>
          </a:bodyPr>
          <a:lstStyle/>
          <a:p>
            <a:pPr algn="l">
              <a:lnSpc>
                <a:spcPct val="110000"/>
              </a:lnSpc>
              <a:spcAft>
                <a:spcPts val="500"/>
              </a:spcAft>
            </a:pPr>
            <a:r>
              <a:rPr sz="1700" b="0">
                <a:solidFill>
                  <a:srgbClr val="6B6358"/>
                </a:solidFill>
                <a:latin typeface="Arial"/>
              </a:rPr>
              <a:t>Saved takes and storyteller approval.</a:t>
            </a:r>
          </a:p>
        </p:txBody>
      </p:sp>
      <p:sp>
        <p:nvSpPr>
          <p:cNvPr id="15" name="TextBox 14"/>
          <p:cNvSpPr txBox="1"/>
          <p:nvPr/>
        </p:nvSpPr>
        <p:spPr>
          <a:xfrm>
            <a:off x="6583680" y="4416552"/>
            <a:ext cx="502920" cy="365760"/>
          </a:xfrm>
          <a:prstGeom prst="rect">
            <a:avLst/>
          </a:prstGeom>
          <a:noFill/>
        </p:spPr>
        <p:txBody>
          <a:bodyPr wrap="square" lIns="0" rIns="0" tIns="0" bIns="0">
            <a:spAutoFit/>
          </a:bodyPr>
          <a:lstStyle/>
          <a:p>
            <a:pPr algn="l">
              <a:lnSpc>
                <a:spcPct val="110000"/>
              </a:lnSpc>
              <a:spcAft>
                <a:spcPts val="500"/>
              </a:spcAft>
            </a:pPr>
            <a:r>
              <a:rPr sz="1500" b="0">
                <a:solidFill>
                  <a:srgbClr val="7A2E2E"/>
                </a:solidFill>
                <a:latin typeface="Arial"/>
              </a:rPr>
              <a:t>03</a:t>
            </a:r>
          </a:p>
        </p:txBody>
      </p:sp>
      <p:sp>
        <p:nvSpPr>
          <p:cNvPr id="16" name="TextBox 15"/>
          <p:cNvSpPr txBox="1"/>
          <p:nvPr/>
        </p:nvSpPr>
        <p:spPr>
          <a:xfrm>
            <a:off x="7242048" y="4416552"/>
            <a:ext cx="4251960" cy="41148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Give them a reason to return.</a:t>
            </a:r>
          </a:p>
        </p:txBody>
      </p:sp>
      <p:sp>
        <p:nvSpPr>
          <p:cNvPr id="17" name="TextBox 16"/>
          <p:cNvSpPr txBox="1"/>
          <p:nvPr/>
        </p:nvSpPr>
        <p:spPr>
          <a:xfrm>
            <a:off x="7242048" y="4928616"/>
            <a:ext cx="4251960" cy="594360"/>
          </a:xfrm>
          <a:prstGeom prst="rect">
            <a:avLst/>
          </a:prstGeom>
          <a:noFill/>
        </p:spPr>
        <p:txBody>
          <a:bodyPr wrap="square" lIns="0" rIns="0" tIns="0" bIns="0">
            <a:spAutoFit/>
          </a:bodyPr>
          <a:lstStyle/>
          <a:p>
            <a:pPr algn="l">
              <a:lnSpc>
                <a:spcPct val="110000"/>
              </a:lnSpc>
              <a:spcAft>
                <a:spcPts val="500"/>
              </a:spcAft>
            </a:pPr>
            <a:r>
              <a:rPr sz="1700" b="0">
                <a:solidFill>
                  <a:srgbClr val="6B6358"/>
                </a:solidFill>
                <a:latin typeface="Arial"/>
              </a:rPr>
              <a:t>A story collection, postcards and replies.</a:t>
            </a:r>
          </a:p>
        </p:txBody>
      </p:sp>
      <p:sp>
        <p:nvSpPr>
          <p:cNvPr id="18" name="TextBox 17"/>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Families are the users. Churches and organizations are potential sponsors to validate in a pilot.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CONCEPT / PRODUCT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03</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The storyteller keeps the final say.</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075688"/>
            <a:ext cx="3657600" cy="54864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Four focused conversations</a:t>
            </a:r>
          </a:p>
        </p:txBody>
      </p:sp>
      <p:sp>
        <p:nvSpPr>
          <p:cNvPr id="8" name="TextBox 7"/>
          <p:cNvSpPr txBox="1"/>
          <p:nvPr/>
        </p:nvSpPr>
        <p:spPr>
          <a:xfrm>
            <a:off x="594360" y="2843784"/>
            <a:ext cx="384048" cy="292608"/>
          </a:xfrm>
          <a:prstGeom prst="rect">
            <a:avLst/>
          </a:prstGeom>
          <a:noFill/>
        </p:spPr>
        <p:txBody>
          <a:bodyPr wrap="square" lIns="0" rIns="0" tIns="0" bIns="0">
            <a:spAutoFit/>
          </a:bodyPr>
          <a:lstStyle/>
          <a:p>
            <a:pPr algn="l">
              <a:lnSpc>
                <a:spcPct val="110000"/>
              </a:lnSpc>
              <a:spcAft>
                <a:spcPts val="500"/>
              </a:spcAft>
            </a:pPr>
            <a:r>
              <a:rPr sz="1300" b="0">
                <a:solidFill>
                  <a:srgbClr val="7A2E2E"/>
                </a:solidFill>
                <a:latin typeface="Arial"/>
              </a:rPr>
              <a:t>01</a:t>
            </a:r>
          </a:p>
        </p:txBody>
      </p:sp>
      <p:sp>
        <p:nvSpPr>
          <p:cNvPr id="9" name="TextBox 8"/>
          <p:cNvSpPr txBox="1"/>
          <p:nvPr/>
        </p:nvSpPr>
        <p:spPr>
          <a:xfrm>
            <a:off x="1097280" y="2798064"/>
            <a:ext cx="3017520" cy="457200"/>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Kindness I received</a:t>
            </a:r>
          </a:p>
        </p:txBody>
      </p:sp>
      <p:sp>
        <p:nvSpPr>
          <p:cNvPr id="10" name="TextBox 9"/>
          <p:cNvSpPr txBox="1"/>
          <p:nvPr/>
        </p:nvSpPr>
        <p:spPr>
          <a:xfrm>
            <a:off x="594360" y="3401568"/>
            <a:ext cx="384048" cy="292608"/>
          </a:xfrm>
          <a:prstGeom prst="rect">
            <a:avLst/>
          </a:prstGeom>
          <a:noFill/>
        </p:spPr>
        <p:txBody>
          <a:bodyPr wrap="square" lIns="0" rIns="0" tIns="0" bIns="0">
            <a:spAutoFit/>
          </a:bodyPr>
          <a:lstStyle/>
          <a:p>
            <a:pPr algn="l">
              <a:lnSpc>
                <a:spcPct val="110000"/>
              </a:lnSpc>
              <a:spcAft>
                <a:spcPts val="500"/>
              </a:spcAft>
            </a:pPr>
            <a:r>
              <a:rPr sz="1300" b="0">
                <a:solidFill>
                  <a:srgbClr val="7A2E2E"/>
                </a:solidFill>
                <a:latin typeface="Arial"/>
              </a:rPr>
              <a:t>02</a:t>
            </a:r>
          </a:p>
        </p:txBody>
      </p:sp>
      <p:sp>
        <p:nvSpPr>
          <p:cNvPr id="11" name="TextBox 10"/>
          <p:cNvSpPr txBox="1"/>
          <p:nvPr/>
        </p:nvSpPr>
        <p:spPr>
          <a:xfrm>
            <a:off x="1097280" y="3355848"/>
            <a:ext cx="3017520" cy="457200"/>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Faith and values I lived</a:t>
            </a:r>
          </a:p>
        </p:txBody>
      </p:sp>
      <p:sp>
        <p:nvSpPr>
          <p:cNvPr id="12" name="TextBox 11"/>
          <p:cNvSpPr txBox="1"/>
          <p:nvPr/>
        </p:nvSpPr>
        <p:spPr>
          <a:xfrm>
            <a:off x="594360" y="3959352"/>
            <a:ext cx="384048" cy="292608"/>
          </a:xfrm>
          <a:prstGeom prst="rect">
            <a:avLst/>
          </a:prstGeom>
          <a:noFill/>
        </p:spPr>
        <p:txBody>
          <a:bodyPr wrap="square" lIns="0" rIns="0" tIns="0" bIns="0">
            <a:spAutoFit/>
          </a:bodyPr>
          <a:lstStyle/>
          <a:p>
            <a:pPr algn="l">
              <a:lnSpc>
                <a:spcPct val="110000"/>
              </a:lnSpc>
              <a:spcAft>
                <a:spcPts val="500"/>
              </a:spcAft>
            </a:pPr>
            <a:r>
              <a:rPr sz="1300" b="0">
                <a:solidFill>
                  <a:srgbClr val="7A2E2E"/>
                </a:solidFill>
                <a:latin typeface="Arial"/>
              </a:rPr>
              <a:t>03</a:t>
            </a:r>
          </a:p>
        </p:txBody>
      </p:sp>
      <p:sp>
        <p:nvSpPr>
          <p:cNvPr id="13" name="TextBox 12"/>
          <p:cNvSpPr txBox="1"/>
          <p:nvPr/>
        </p:nvSpPr>
        <p:spPr>
          <a:xfrm>
            <a:off x="1097280" y="3913632"/>
            <a:ext cx="3017520" cy="457200"/>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Generosity I practiced</a:t>
            </a:r>
          </a:p>
        </p:txBody>
      </p:sp>
      <p:sp>
        <p:nvSpPr>
          <p:cNvPr id="14" name="TextBox 13"/>
          <p:cNvSpPr txBox="1"/>
          <p:nvPr/>
        </p:nvSpPr>
        <p:spPr>
          <a:xfrm>
            <a:off x="594360" y="4517136"/>
            <a:ext cx="384048" cy="292608"/>
          </a:xfrm>
          <a:prstGeom prst="rect">
            <a:avLst/>
          </a:prstGeom>
          <a:noFill/>
        </p:spPr>
        <p:txBody>
          <a:bodyPr wrap="square" lIns="0" rIns="0" tIns="0" bIns="0">
            <a:spAutoFit/>
          </a:bodyPr>
          <a:lstStyle/>
          <a:p>
            <a:pPr algn="l">
              <a:lnSpc>
                <a:spcPct val="110000"/>
              </a:lnSpc>
              <a:spcAft>
                <a:spcPts val="500"/>
              </a:spcAft>
            </a:pPr>
            <a:r>
              <a:rPr sz="1300" b="0">
                <a:solidFill>
                  <a:srgbClr val="7A2E2E"/>
                </a:solidFill>
                <a:latin typeface="Arial"/>
              </a:rPr>
              <a:t>04</a:t>
            </a:r>
          </a:p>
        </p:txBody>
      </p:sp>
      <p:sp>
        <p:nvSpPr>
          <p:cNvPr id="15" name="TextBox 14"/>
          <p:cNvSpPr txBox="1"/>
          <p:nvPr/>
        </p:nvSpPr>
        <p:spPr>
          <a:xfrm>
            <a:off x="1097280" y="4471416"/>
            <a:ext cx="3017520" cy="457200"/>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What I hope you carry</a:t>
            </a:r>
          </a:p>
        </p:txBody>
      </p:sp>
      <p:sp>
        <p:nvSpPr>
          <p:cNvPr id="16" name="TextBox 15"/>
          <p:cNvSpPr txBox="1"/>
          <p:nvPr/>
        </p:nvSpPr>
        <p:spPr>
          <a:xfrm>
            <a:off x="594360" y="5330952"/>
            <a:ext cx="3657600" cy="484632"/>
          </a:xfrm>
          <a:prstGeom prst="rect">
            <a:avLst/>
          </a:prstGeom>
          <a:noFill/>
        </p:spPr>
        <p:txBody>
          <a:bodyPr wrap="square" lIns="0" rIns="0" tIns="0" bIns="0">
            <a:spAutoFit/>
          </a:bodyPr>
          <a:lstStyle/>
          <a:p>
            <a:pPr algn="l">
              <a:lnSpc>
                <a:spcPct val="110000"/>
              </a:lnSpc>
              <a:spcAft>
                <a:spcPts val="500"/>
              </a:spcAft>
            </a:pPr>
            <a:r>
              <a:rPr sz="1500" b="1">
                <a:solidFill>
                  <a:srgbClr val="7A2E2E"/>
                </a:solidFill>
                <a:latin typeface="Arial"/>
              </a:rPr>
              <a:t>Replay. Rerecord. Review. Approve.</a:t>
            </a:r>
          </a:p>
        </p:txBody>
      </p:sp>
      <p:pic>
        <p:nvPicPr>
          <p:cNvPr id="17" name="Picture 16" descr="Collection_Desktop_QA_v1.png"/>
          <p:cNvPicPr>
            <a:picLocks noChangeAspect="1"/>
          </p:cNvPicPr>
          <p:nvPr/>
        </p:nvPicPr>
        <p:blipFill>
          <a:blip r:embed="rId2"/>
          <a:stretch>
            <a:fillRect/>
          </a:stretch>
        </p:blipFill>
        <p:spPr>
          <a:xfrm>
            <a:off x="5349240" y="1993392"/>
            <a:ext cx="6126480" cy="3955751"/>
          </a:xfrm>
          <a:prstGeom prst="rect">
            <a:avLst/>
          </a:prstGeom>
        </p:spPr>
      </p:pic>
      <p:sp>
        <p:nvSpPr>
          <p:cNvPr id="18" name="TextBox 17"/>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Actual local collection screen with synthetic test content. Real-device capture still needs validation.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INNOVATION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04</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Connection should not depend</a:t>
            </a:r>
          </a:p>
          <a:p>
            <a:pPr algn="l">
              <a:lnSpc>
                <a:spcPct val="110000"/>
              </a:lnSpc>
              <a:spcAft>
                <a:spcPts val="500"/>
              </a:spcAft>
            </a:pPr>
            <a:r>
              <a:rPr sz="3700" b="0">
                <a:solidFill>
                  <a:srgbClr val="2A2520"/>
                </a:solidFill>
                <a:latin typeface="Georgia"/>
              </a:rPr>
              <a:t>on a shared calendar.</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cxnSp>
        <p:nvCxnSpPr>
          <p:cNvPr id="7" name="Connector 6"/>
          <p:cNvCxnSpPr/>
          <p:nvPr/>
        </p:nvCxnSpPr>
        <p:spPr>
          <a:xfrm>
            <a:off x="594360" y="2377440"/>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594360" y="2514600"/>
            <a:ext cx="2331720" cy="292608"/>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A FAMILIAR BEHAVIOR</a:t>
            </a:r>
          </a:p>
        </p:txBody>
      </p:sp>
      <p:sp>
        <p:nvSpPr>
          <p:cNvPr id="9" name="TextBox 8"/>
          <p:cNvSpPr txBox="1"/>
          <p:nvPr/>
        </p:nvSpPr>
        <p:spPr>
          <a:xfrm>
            <a:off x="3108960" y="2514600"/>
            <a:ext cx="3520440" cy="36576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Marco Polo</a:t>
            </a:r>
          </a:p>
        </p:txBody>
      </p:sp>
      <p:sp>
        <p:nvSpPr>
          <p:cNvPr id="10" name="TextBox 9"/>
          <p:cNvSpPr txBox="1"/>
          <p:nvPr/>
        </p:nvSpPr>
        <p:spPr>
          <a:xfrm>
            <a:off x="7059168" y="2514600"/>
            <a:ext cx="4526280" cy="640080"/>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Arial"/>
              </a:rPr>
              <a:t>Record when you can. Watch and respond later.</a:t>
            </a:r>
          </a:p>
        </p:txBody>
      </p:sp>
      <p:cxnSp>
        <p:nvCxnSpPr>
          <p:cNvPr id="11" name="Connector 10"/>
          <p:cNvCxnSpPr/>
          <p:nvPr/>
        </p:nvCxnSpPr>
        <p:spPr>
          <a:xfrm>
            <a:off x="594360" y="3401568"/>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538728"/>
            <a:ext cx="2331720" cy="292608"/>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A PAID CATEGORY</a:t>
            </a:r>
          </a:p>
        </p:txBody>
      </p:sp>
      <p:sp>
        <p:nvSpPr>
          <p:cNvPr id="13" name="TextBox 12"/>
          <p:cNvSpPr txBox="1"/>
          <p:nvPr/>
        </p:nvSpPr>
        <p:spPr>
          <a:xfrm>
            <a:off x="3108960" y="3538728"/>
            <a:ext cx="3520440" cy="36576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Storyworth + Remento</a:t>
            </a:r>
          </a:p>
        </p:txBody>
      </p:sp>
      <p:sp>
        <p:nvSpPr>
          <p:cNvPr id="14" name="TextBox 13"/>
          <p:cNvSpPr txBox="1"/>
          <p:nvPr/>
        </p:nvSpPr>
        <p:spPr>
          <a:xfrm>
            <a:off x="7059168" y="3538728"/>
            <a:ext cx="4526280" cy="640080"/>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Arial"/>
              </a:rPr>
              <a:t>Family storytelling already has paid offers.</a:t>
            </a:r>
          </a:p>
        </p:txBody>
      </p:sp>
      <p:cxnSp>
        <p:nvCxnSpPr>
          <p:cNvPr id="15" name="Connector 14"/>
          <p:cNvCxnSpPr/>
          <p:nvPr/>
        </p:nvCxnSpPr>
        <p:spPr>
          <a:xfrm>
            <a:off x="594360" y="4425696"/>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94360" y="4562856"/>
            <a:ext cx="2331720" cy="292608"/>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OUR FOCUS TO TEST</a:t>
            </a:r>
          </a:p>
        </p:txBody>
      </p:sp>
      <p:sp>
        <p:nvSpPr>
          <p:cNvPr id="17" name="TextBox 16"/>
          <p:cNvSpPr txBox="1"/>
          <p:nvPr/>
        </p:nvSpPr>
        <p:spPr>
          <a:xfrm>
            <a:off x="3108960" y="4562856"/>
            <a:ext cx="3520440" cy="36576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Time Tapestry</a:t>
            </a:r>
          </a:p>
        </p:txBody>
      </p:sp>
      <p:sp>
        <p:nvSpPr>
          <p:cNvPr id="18" name="TextBox 17"/>
          <p:cNvSpPr txBox="1"/>
          <p:nvPr/>
        </p:nvSpPr>
        <p:spPr>
          <a:xfrm>
            <a:off x="7059168" y="4562856"/>
            <a:ext cx="4526280" cy="640080"/>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Arial"/>
              </a:rPr>
              <a:t>Christian legacy, tangible encouragement and a reply.</a:t>
            </a:r>
          </a:p>
        </p:txBody>
      </p:sp>
      <p:sp>
        <p:nvSpPr>
          <p:cNvPr id="19" name="TextBox 18"/>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These establish an analogy and an adjacent category. Completion, willingness to pay and sponsorship remain to test.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INNOVATION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05</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The first card opens the whole story.</a:t>
            </a:r>
          </a:p>
        </p:txBody>
      </p:sp>
      <p:sp>
        <p:nvSpPr>
          <p:cNvPr id="5" name="TextBox 4"/>
          <p:cNvSpPr txBox="1"/>
          <p:nvPr/>
        </p:nvSpPr>
        <p:spPr>
          <a:xfrm>
            <a:off x="594360" y="1874519"/>
            <a:ext cx="10972800" cy="640080"/>
          </a:xfrm>
          <a:prstGeom prst="rect">
            <a:avLst/>
          </a:prstGeom>
          <a:noFill/>
        </p:spPr>
        <p:txBody>
          <a:bodyPr wrap="square" lIns="0" rIns="0" tIns="0" bIns="0">
            <a:spAutoFit/>
          </a:bodyPr>
          <a:lstStyle/>
          <a:p>
            <a:pPr algn="l">
              <a:lnSpc>
                <a:spcPct val="110000"/>
              </a:lnSpc>
              <a:spcAft>
                <a:spcPts val="500"/>
              </a:spcAft>
            </a:pPr>
            <a:r>
              <a:rPr sz="1900" b="0">
                <a:solidFill>
                  <a:srgbClr val="6B6358"/>
                </a:solidFill>
                <a:latin typeface="Arial"/>
              </a:rPr>
              <a:t>Later cards bring a chapter back into everyday life, with the storyteller’s own encouragement.</a:t>
            </a:r>
          </a:p>
        </p:txBody>
      </p:sp>
      <p:cxnSp>
        <p:nvCxnSpPr>
          <p:cNvPr id="6" name="Connector 5"/>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8" name="TextBox 7"/>
          <p:cNvSpPr txBox="1"/>
          <p:nvPr/>
        </p:nvSpPr>
        <p:spPr>
          <a:xfrm>
            <a:off x="594360" y="2788920"/>
            <a:ext cx="1600200" cy="320040"/>
          </a:xfrm>
          <a:prstGeom prst="rect">
            <a:avLst/>
          </a:prstGeom>
          <a:noFill/>
        </p:spPr>
        <p:txBody>
          <a:bodyPr wrap="square" lIns="0" rIns="0" tIns="0" bIns="0">
            <a:spAutoFit/>
          </a:bodyPr>
          <a:lstStyle/>
          <a:p>
            <a:pPr algn="l">
              <a:lnSpc>
                <a:spcPct val="110000"/>
              </a:lnSpc>
              <a:spcAft>
                <a:spcPts val="500"/>
              </a:spcAft>
            </a:pPr>
            <a:r>
              <a:rPr sz="1400" b="0">
                <a:solidFill>
                  <a:srgbClr val="7A2E2E"/>
                </a:solidFill>
                <a:latin typeface="Arial"/>
              </a:rPr>
              <a:t>01</a:t>
            </a:r>
          </a:p>
        </p:txBody>
      </p:sp>
      <p:sp>
        <p:nvSpPr>
          <p:cNvPr id="9" name="TextBox 8"/>
          <p:cNvSpPr txBox="1"/>
          <p:nvPr/>
        </p:nvSpPr>
        <p:spPr>
          <a:xfrm>
            <a:off x="594360" y="3227832"/>
            <a:ext cx="1645920" cy="365760"/>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Georgia"/>
              </a:rPr>
              <a:t>Invite</a:t>
            </a:r>
          </a:p>
        </p:txBody>
      </p:sp>
      <p:sp>
        <p:nvSpPr>
          <p:cNvPr id="10" name="TextBox 9"/>
          <p:cNvSpPr txBox="1"/>
          <p:nvPr/>
        </p:nvSpPr>
        <p:spPr>
          <a:xfrm>
            <a:off x="2075688" y="3227832"/>
            <a:ext cx="347472" cy="365760"/>
          </a:xfrm>
          <a:prstGeom prst="rect">
            <a:avLst/>
          </a:prstGeom>
          <a:noFill/>
        </p:spPr>
        <p:txBody>
          <a:bodyPr wrap="square" lIns="0" rIns="0" tIns="0" bIns="0">
            <a:spAutoFit/>
          </a:bodyPr>
          <a:lstStyle/>
          <a:p>
            <a:pPr algn="l">
              <a:lnSpc>
                <a:spcPct val="110000"/>
              </a:lnSpc>
              <a:spcAft>
                <a:spcPts val="500"/>
              </a:spcAft>
            </a:pPr>
            <a:r>
              <a:rPr sz="2300" b="0">
                <a:solidFill>
                  <a:srgbClr val="6B6358"/>
                </a:solidFill>
                <a:latin typeface="Arial"/>
              </a:rPr>
              <a:t>→</a:t>
            </a:r>
          </a:p>
        </p:txBody>
      </p:sp>
      <p:sp>
        <p:nvSpPr>
          <p:cNvPr id="11" name="TextBox 10"/>
          <p:cNvSpPr txBox="1"/>
          <p:nvPr/>
        </p:nvSpPr>
        <p:spPr>
          <a:xfrm>
            <a:off x="2487168" y="2788920"/>
            <a:ext cx="1600200" cy="320040"/>
          </a:xfrm>
          <a:prstGeom prst="rect">
            <a:avLst/>
          </a:prstGeom>
          <a:noFill/>
        </p:spPr>
        <p:txBody>
          <a:bodyPr wrap="square" lIns="0" rIns="0" tIns="0" bIns="0">
            <a:spAutoFit/>
          </a:bodyPr>
          <a:lstStyle/>
          <a:p>
            <a:pPr algn="l">
              <a:lnSpc>
                <a:spcPct val="110000"/>
              </a:lnSpc>
              <a:spcAft>
                <a:spcPts val="500"/>
              </a:spcAft>
            </a:pPr>
            <a:r>
              <a:rPr sz="1400" b="0">
                <a:solidFill>
                  <a:srgbClr val="7A2E2E"/>
                </a:solidFill>
                <a:latin typeface="Arial"/>
              </a:rPr>
              <a:t>02</a:t>
            </a:r>
          </a:p>
        </p:txBody>
      </p:sp>
      <p:sp>
        <p:nvSpPr>
          <p:cNvPr id="12" name="TextBox 11"/>
          <p:cNvSpPr txBox="1"/>
          <p:nvPr/>
        </p:nvSpPr>
        <p:spPr>
          <a:xfrm>
            <a:off x="2487168" y="3227832"/>
            <a:ext cx="1645920" cy="365760"/>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Georgia"/>
              </a:rPr>
              <a:t>Answer</a:t>
            </a:r>
          </a:p>
        </p:txBody>
      </p:sp>
      <p:sp>
        <p:nvSpPr>
          <p:cNvPr id="13" name="TextBox 12"/>
          <p:cNvSpPr txBox="1"/>
          <p:nvPr/>
        </p:nvSpPr>
        <p:spPr>
          <a:xfrm>
            <a:off x="3968496" y="3227832"/>
            <a:ext cx="347472" cy="365760"/>
          </a:xfrm>
          <a:prstGeom prst="rect">
            <a:avLst/>
          </a:prstGeom>
          <a:noFill/>
        </p:spPr>
        <p:txBody>
          <a:bodyPr wrap="square" lIns="0" rIns="0" tIns="0" bIns="0">
            <a:spAutoFit/>
          </a:bodyPr>
          <a:lstStyle/>
          <a:p>
            <a:pPr algn="l">
              <a:lnSpc>
                <a:spcPct val="110000"/>
              </a:lnSpc>
              <a:spcAft>
                <a:spcPts val="500"/>
              </a:spcAft>
            </a:pPr>
            <a:r>
              <a:rPr sz="2300" b="0">
                <a:solidFill>
                  <a:srgbClr val="6B6358"/>
                </a:solidFill>
                <a:latin typeface="Arial"/>
              </a:rPr>
              <a:t>→</a:t>
            </a:r>
          </a:p>
        </p:txBody>
      </p:sp>
      <p:sp>
        <p:nvSpPr>
          <p:cNvPr id="14" name="TextBox 13"/>
          <p:cNvSpPr txBox="1"/>
          <p:nvPr/>
        </p:nvSpPr>
        <p:spPr>
          <a:xfrm>
            <a:off x="4379976" y="2788920"/>
            <a:ext cx="1600200" cy="320040"/>
          </a:xfrm>
          <a:prstGeom prst="rect">
            <a:avLst/>
          </a:prstGeom>
          <a:noFill/>
        </p:spPr>
        <p:txBody>
          <a:bodyPr wrap="square" lIns="0" rIns="0" tIns="0" bIns="0">
            <a:spAutoFit/>
          </a:bodyPr>
          <a:lstStyle/>
          <a:p>
            <a:pPr algn="l">
              <a:lnSpc>
                <a:spcPct val="110000"/>
              </a:lnSpc>
              <a:spcAft>
                <a:spcPts val="500"/>
              </a:spcAft>
            </a:pPr>
            <a:r>
              <a:rPr sz="1400" b="0">
                <a:solidFill>
                  <a:srgbClr val="7A2E2E"/>
                </a:solidFill>
                <a:latin typeface="Arial"/>
              </a:rPr>
              <a:t>03</a:t>
            </a:r>
          </a:p>
        </p:txBody>
      </p:sp>
      <p:sp>
        <p:nvSpPr>
          <p:cNvPr id="15" name="TextBox 14"/>
          <p:cNvSpPr txBox="1"/>
          <p:nvPr/>
        </p:nvSpPr>
        <p:spPr>
          <a:xfrm>
            <a:off x="4379976" y="3227832"/>
            <a:ext cx="1645920" cy="365760"/>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Georgia"/>
              </a:rPr>
              <a:t>Approve</a:t>
            </a:r>
          </a:p>
        </p:txBody>
      </p:sp>
      <p:sp>
        <p:nvSpPr>
          <p:cNvPr id="16" name="TextBox 15"/>
          <p:cNvSpPr txBox="1"/>
          <p:nvPr/>
        </p:nvSpPr>
        <p:spPr>
          <a:xfrm>
            <a:off x="5861304" y="3227832"/>
            <a:ext cx="347472" cy="365760"/>
          </a:xfrm>
          <a:prstGeom prst="rect">
            <a:avLst/>
          </a:prstGeom>
          <a:noFill/>
        </p:spPr>
        <p:txBody>
          <a:bodyPr wrap="square" lIns="0" rIns="0" tIns="0" bIns="0">
            <a:spAutoFit/>
          </a:bodyPr>
          <a:lstStyle/>
          <a:p>
            <a:pPr algn="l">
              <a:lnSpc>
                <a:spcPct val="110000"/>
              </a:lnSpc>
              <a:spcAft>
                <a:spcPts val="500"/>
              </a:spcAft>
            </a:pPr>
            <a:r>
              <a:rPr sz="2300" b="0">
                <a:solidFill>
                  <a:srgbClr val="6B6358"/>
                </a:solidFill>
                <a:latin typeface="Arial"/>
              </a:rPr>
              <a:t>→</a:t>
            </a:r>
          </a:p>
        </p:txBody>
      </p:sp>
      <p:sp>
        <p:nvSpPr>
          <p:cNvPr id="17" name="TextBox 16"/>
          <p:cNvSpPr txBox="1"/>
          <p:nvPr/>
        </p:nvSpPr>
        <p:spPr>
          <a:xfrm>
            <a:off x="6272783" y="2788920"/>
            <a:ext cx="1600200" cy="320040"/>
          </a:xfrm>
          <a:prstGeom prst="rect">
            <a:avLst/>
          </a:prstGeom>
          <a:noFill/>
        </p:spPr>
        <p:txBody>
          <a:bodyPr wrap="square" lIns="0" rIns="0" tIns="0" bIns="0">
            <a:spAutoFit/>
          </a:bodyPr>
          <a:lstStyle/>
          <a:p>
            <a:pPr algn="l">
              <a:lnSpc>
                <a:spcPct val="110000"/>
              </a:lnSpc>
              <a:spcAft>
                <a:spcPts val="500"/>
              </a:spcAft>
            </a:pPr>
            <a:r>
              <a:rPr sz="1400" b="0">
                <a:solidFill>
                  <a:srgbClr val="7A2E2E"/>
                </a:solidFill>
                <a:latin typeface="Arial"/>
              </a:rPr>
              <a:t>04</a:t>
            </a:r>
          </a:p>
        </p:txBody>
      </p:sp>
      <p:sp>
        <p:nvSpPr>
          <p:cNvPr id="18" name="TextBox 17"/>
          <p:cNvSpPr txBox="1"/>
          <p:nvPr/>
        </p:nvSpPr>
        <p:spPr>
          <a:xfrm>
            <a:off x="6272783" y="3227832"/>
            <a:ext cx="1645920" cy="365760"/>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Georgia"/>
              </a:rPr>
              <a:t>Receive</a:t>
            </a:r>
          </a:p>
        </p:txBody>
      </p:sp>
      <p:sp>
        <p:nvSpPr>
          <p:cNvPr id="19" name="TextBox 18"/>
          <p:cNvSpPr txBox="1"/>
          <p:nvPr/>
        </p:nvSpPr>
        <p:spPr>
          <a:xfrm>
            <a:off x="7754112" y="3227832"/>
            <a:ext cx="347472" cy="365760"/>
          </a:xfrm>
          <a:prstGeom prst="rect">
            <a:avLst/>
          </a:prstGeom>
          <a:noFill/>
        </p:spPr>
        <p:txBody>
          <a:bodyPr wrap="square" lIns="0" rIns="0" tIns="0" bIns="0">
            <a:spAutoFit/>
          </a:bodyPr>
          <a:lstStyle/>
          <a:p>
            <a:pPr algn="l">
              <a:lnSpc>
                <a:spcPct val="110000"/>
              </a:lnSpc>
              <a:spcAft>
                <a:spcPts val="500"/>
              </a:spcAft>
            </a:pPr>
            <a:r>
              <a:rPr sz="2300" b="0">
                <a:solidFill>
                  <a:srgbClr val="6B6358"/>
                </a:solidFill>
                <a:latin typeface="Arial"/>
              </a:rPr>
              <a:t>→</a:t>
            </a:r>
          </a:p>
        </p:txBody>
      </p:sp>
      <p:sp>
        <p:nvSpPr>
          <p:cNvPr id="20" name="TextBox 19"/>
          <p:cNvSpPr txBox="1"/>
          <p:nvPr/>
        </p:nvSpPr>
        <p:spPr>
          <a:xfrm>
            <a:off x="8165592" y="2788920"/>
            <a:ext cx="1600200" cy="320040"/>
          </a:xfrm>
          <a:prstGeom prst="rect">
            <a:avLst/>
          </a:prstGeom>
          <a:noFill/>
        </p:spPr>
        <p:txBody>
          <a:bodyPr wrap="square" lIns="0" rIns="0" tIns="0" bIns="0">
            <a:spAutoFit/>
          </a:bodyPr>
          <a:lstStyle/>
          <a:p>
            <a:pPr algn="l">
              <a:lnSpc>
                <a:spcPct val="110000"/>
              </a:lnSpc>
              <a:spcAft>
                <a:spcPts val="500"/>
              </a:spcAft>
            </a:pPr>
            <a:r>
              <a:rPr sz="1400" b="0">
                <a:solidFill>
                  <a:srgbClr val="7A2E2E"/>
                </a:solidFill>
                <a:latin typeface="Arial"/>
              </a:rPr>
              <a:t>05</a:t>
            </a:r>
          </a:p>
        </p:txBody>
      </p:sp>
      <p:sp>
        <p:nvSpPr>
          <p:cNvPr id="21" name="TextBox 20"/>
          <p:cNvSpPr txBox="1"/>
          <p:nvPr/>
        </p:nvSpPr>
        <p:spPr>
          <a:xfrm>
            <a:off x="8165592" y="3227832"/>
            <a:ext cx="1645920" cy="365760"/>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Georgia"/>
              </a:rPr>
              <a:t>Return</a:t>
            </a:r>
          </a:p>
        </p:txBody>
      </p:sp>
      <p:sp>
        <p:nvSpPr>
          <p:cNvPr id="22" name="TextBox 21"/>
          <p:cNvSpPr txBox="1"/>
          <p:nvPr/>
        </p:nvSpPr>
        <p:spPr>
          <a:xfrm>
            <a:off x="9646920" y="3227832"/>
            <a:ext cx="347472" cy="365760"/>
          </a:xfrm>
          <a:prstGeom prst="rect">
            <a:avLst/>
          </a:prstGeom>
          <a:noFill/>
        </p:spPr>
        <p:txBody>
          <a:bodyPr wrap="square" lIns="0" rIns="0" tIns="0" bIns="0">
            <a:spAutoFit/>
          </a:bodyPr>
          <a:lstStyle/>
          <a:p>
            <a:pPr algn="l">
              <a:lnSpc>
                <a:spcPct val="110000"/>
              </a:lnSpc>
              <a:spcAft>
                <a:spcPts val="500"/>
              </a:spcAft>
            </a:pPr>
            <a:r>
              <a:rPr sz="2300" b="0">
                <a:solidFill>
                  <a:srgbClr val="6B6358"/>
                </a:solidFill>
                <a:latin typeface="Arial"/>
              </a:rPr>
              <a:t>→</a:t>
            </a:r>
          </a:p>
        </p:txBody>
      </p:sp>
      <p:sp>
        <p:nvSpPr>
          <p:cNvPr id="23" name="TextBox 22"/>
          <p:cNvSpPr txBox="1"/>
          <p:nvPr/>
        </p:nvSpPr>
        <p:spPr>
          <a:xfrm>
            <a:off x="10058400" y="2788920"/>
            <a:ext cx="1600200" cy="320040"/>
          </a:xfrm>
          <a:prstGeom prst="rect">
            <a:avLst/>
          </a:prstGeom>
          <a:noFill/>
        </p:spPr>
        <p:txBody>
          <a:bodyPr wrap="square" lIns="0" rIns="0" tIns="0" bIns="0">
            <a:spAutoFit/>
          </a:bodyPr>
          <a:lstStyle/>
          <a:p>
            <a:pPr algn="l">
              <a:lnSpc>
                <a:spcPct val="110000"/>
              </a:lnSpc>
              <a:spcAft>
                <a:spcPts val="500"/>
              </a:spcAft>
            </a:pPr>
            <a:r>
              <a:rPr sz="1400" b="0">
                <a:solidFill>
                  <a:srgbClr val="7A2E2E"/>
                </a:solidFill>
                <a:latin typeface="Arial"/>
              </a:rPr>
              <a:t>06</a:t>
            </a:r>
          </a:p>
        </p:txBody>
      </p:sp>
      <p:sp>
        <p:nvSpPr>
          <p:cNvPr id="24" name="TextBox 23"/>
          <p:cNvSpPr txBox="1"/>
          <p:nvPr/>
        </p:nvSpPr>
        <p:spPr>
          <a:xfrm>
            <a:off x="10058400" y="3227832"/>
            <a:ext cx="1645920" cy="365760"/>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Georgia"/>
              </a:rPr>
              <a:t>Reply</a:t>
            </a:r>
          </a:p>
        </p:txBody>
      </p:sp>
      <p:cxnSp>
        <p:nvCxnSpPr>
          <p:cNvPr id="25" name="Connector 24"/>
          <p:cNvCxnSpPr/>
          <p:nvPr/>
        </p:nvCxnSpPr>
        <p:spPr>
          <a:xfrm>
            <a:off x="1188720" y="4572000"/>
            <a:ext cx="9784080" cy="0"/>
          </a:xfrm>
          <a:prstGeom prst="line">
            <a:avLst/>
          </a:prstGeom>
          <a:ln w="10160">
            <a:solidFill>
              <a:srgbClr val="7A2E2E"/>
            </a:solidFill>
          </a:ln>
          <a:effectLst/>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94360" y="4233672"/>
            <a:ext cx="2514600" cy="621792"/>
          </a:xfrm>
          <a:prstGeom prst="rect">
            <a:avLst/>
          </a:prstGeom>
          <a:solidFill>
            <a:srgbClr val="FAF6EF"/>
          </a:solidFill>
          <a:ln w="10160">
            <a:solidFill>
              <a:srgbClr val="7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 y="4425696"/>
            <a:ext cx="2295144" cy="228600"/>
          </a:xfrm>
          <a:prstGeom prst="rect">
            <a:avLst/>
          </a:prstGeom>
          <a:noFill/>
        </p:spPr>
        <p:txBody>
          <a:bodyPr wrap="square" lIns="0" rIns="0" tIns="0" bIns="0">
            <a:spAutoFit/>
          </a:bodyPr>
          <a:lstStyle/>
          <a:p>
            <a:pPr algn="ctr">
              <a:lnSpc>
                <a:spcPct val="110000"/>
              </a:lnSpc>
              <a:spcAft>
                <a:spcPts val="500"/>
              </a:spcAft>
            </a:pPr>
            <a:r>
              <a:rPr sz="1300" b="0">
                <a:solidFill>
                  <a:srgbClr val="7A2E2E"/>
                </a:solidFill>
                <a:latin typeface="Arial"/>
              </a:rPr>
              <a:t>MONTH 0</a:t>
            </a:r>
          </a:p>
        </p:txBody>
      </p:sp>
      <p:sp>
        <p:nvSpPr>
          <p:cNvPr id="28" name="TextBox 27"/>
          <p:cNvSpPr txBox="1"/>
          <p:nvPr/>
        </p:nvSpPr>
        <p:spPr>
          <a:xfrm>
            <a:off x="594360" y="5084064"/>
            <a:ext cx="2560320" cy="484632"/>
          </a:xfrm>
          <a:prstGeom prst="rect">
            <a:avLst/>
          </a:prstGeom>
          <a:noFill/>
        </p:spPr>
        <p:txBody>
          <a:bodyPr wrap="square" lIns="0" rIns="0" tIns="0" bIns="0">
            <a:spAutoFit/>
          </a:bodyPr>
          <a:lstStyle/>
          <a:p>
            <a:pPr algn="ctr">
              <a:lnSpc>
                <a:spcPct val="110000"/>
              </a:lnSpc>
              <a:spcAft>
                <a:spcPts val="500"/>
              </a:spcAft>
            </a:pPr>
            <a:r>
              <a:rPr sz="1800" b="0">
                <a:solidFill>
                  <a:srgbClr val="2A2520"/>
                </a:solidFill>
                <a:latin typeface="Arial"/>
              </a:rPr>
              <a:t>The introduction</a:t>
            </a:r>
          </a:p>
        </p:txBody>
      </p:sp>
      <p:sp>
        <p:nvSpPr>
          <p:cNvPr id="29" name="Rectangle 28"/>
          <p:cNvSpPr/>
          <p:nvPr/>
        </p:nvSpPr>
        <p:spPr>
          <a:xfrm>
            <a:off x="3429000" y="4233672"/>
            <a:ext cx="2514600" cy="621792"/>
          </a:xfrm>
          <a:prstGeom prst="rect">
            <a:avLst/>
          </a:prstGeom>
          <a:solidFill>
            <a:srgbClr val="FAF6EF"/>
          </a:solidFill>
          <a:ln w="10160">
            <a:solidFill>
              <a:srgbClr val="7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38728" y="4425696"/>
            <a:ext cx="2295144" cy="228600"/>
          </a:xfrm>
          <a:prstGeom prst="rect">
            <a:avLst/>
          </a:prstGeom>
          <a:noFill/>
        </p:spPr>
        <p:txBody>
          <a:bodyPr wrap="square" lIns="0" rIns="0" tIns="0" bIns="0">
            <a:spAutoFit/>
          </a:bodyPr>
          <a:lstStyle/>
          <a:p>
            <a:pPr algn="ctr">
              <a:lnSpc>
                <a:spcPct val="110000"/>
              </a:lnSpc>
              <a:spcAft>
                <a:spcPts val="500"/>
              </a:spcAft>
            </a:pPr>
            <a:r>
              <a:rPr sz="1300" b="0">
                <a:solidFill>
                  <a:srgbClr val="7A2E2E"/>
                </a:solidFill>
                <a:latin typeface="Arial"/>
              </a:rPr>
              <a:t>MONTH 3</a:t>
            </a:r>
          </a:p>
        </p:txBody>
      </p:sp>
      <p:sp>
        <p:nvSpPr>
          <p:cNvPr id="31" name="TextBox 30"/>
          <p:cNvSpPr txBox="1"/>
          <p:nvPr/>
        </p:nvSpPr>
        <p:spPr>
          <a:xfrm>
            <a:off x="3429000" y="5084064"/>
            <a:ext cx="2560320" cy="484632"/>
          </a:xfrm>
          <a:prstGeom prst="rect">
            <a:avLst/>
          </a:prstGeom>
          <a:noFill/>
        </p:spPr>
        <p:txBody>
          <a:bodyPr wrap="square" lIns="0" rIns="0" tIns="0" bIns="0">
            <a:spAutoFit/>
          </a:bodyPr>
          <a:lstStyle/>
          <a:p>
            <a:pPr algn="ctr">
              <a:lnSpc>
                <a:spcPct val="110000"/>
              </a:lnSpc>
              <a:spcAft>
                <a:spcPts val="500"/>
              </a:spcAft>
            </a:pPr>
            <a:r>
              <a:rPr sz="1800" b="0">
                <a:solidFill>
                  <a:srgbClr val="2A2520"/>
                </a:solidFill>
                <a:latin typeface="Arial"/>
              </a:rPr>
              <a:t>A story to revisit</a:t>
            </a:r>
          </a:p>
        </p:txBody>
      </p:sp>
      <p:sp>
        <p:nvSpPr>
          <p:cNvPr id="32" name="Rectangle 31"/>
          <p:cNvSpPr/>
          <p:nvPr/>
        </p:nvSpPr>
        <p:spPr>
          <a:xfrm>
            <a:off x="6263640" y="4233672"/>
            <a:ext cx="2514600" cy="621792"/>
          </a:xfrm>
          <a:prstGeom prst="rect">
            <a:avLst/>
          </a:prstGeom>
          <a:solidFill>
            <a:srgbClr val="FAF6EF"/>
          </a:solidFill>
          <a:ln w="10160">
            <a:solidFill>
              <a:srgbClr val="7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73368" y="4425696"/>
            <a:ext cx="2295144" cy="228600"/>
          </a:xfrm>
          <a:prstGeom prst="rect">
            <a:avLst/>
          </a:prstGeom>
          <a:noFill/>
        </p:spPr>
        <p:txBody>
          <a:bodyPr wrap="square" lIns="0" rIns="0" tIns="0" bIns="0">
            <a:spAutoFit/>
          </a:bodyPr>
          <a:lstStyle/>
          <a:p>
            <a:pPr algn="ctr">
              <a:lnSpc>
                <a:spcPct val="110000"/>
              </a:lnSpc>
              <a:spcAft>
                <a:spcPts val="500"/>
              </a:spcAft>
            </a:pPr>
            <a:r>
              <a:rPr sz="1300" b="0">
                <a:solidFill>
                  <a:srgbClr val="7A2E2E"/>
                </a:solidFill>
                <a:latin typeface="Arial"/>
              </a:rPr>
              <a:t>MONTH 6</a:t>
            </a:r>
          </a:p>
        </p:txBody>
      </p:sp>
      <p:sp>
        <p:nvSpPr>
          <p:cNvPr id="34" name="TextBox 33"/>
          <p:cNvSpPr txBox="1"/>
          <p:nvPr/>
        </p:nvSpPr>
        <p:spPr>
          <a:xfrm>
            <a:off x="6263640" y="5084064"/>
            <a:ext cx="2560320" cy="484632"/>
          </a:xfrm>
          <a:prstGeom prst="rect">
            <a:avLst/>
          </a:prstGeom>
          <a:noFill/>
        </p:spPr>
        <p:txBody>
          <a:bodyPr wrap="square" lIns="0" rIns="0" tIns="0" bIns="0">
            <a:spAutoFit/>
          </a:bodyPr>
          <a:lstStyle/>
          <a:p>
            <a:pPr algn="ctr">
              <a:lnSpc>
                <a:spcPct val="110000"/>
              </a:lnSpc>
              <a:spcAft>
                <a:spcPts val="500"/>
              </a:spcAft>
            </a:pPr>
            <a:r>
              <a:rPr sz="1800" b="0">
                <a:solidFill>
                  <a:srgbClr val="2A2520"/>
                </a:solidFill>
                <a:latin typeface="Arial"/>
              </a:rPr>
              <a:t>A word to carry</a:t>
            </a:r>
          </a:p>
        </p:txBody>
      </p:sp>
      <p:sp>
        <p:nvSpPr>
          <p:cNvPr id="35" name="Rectangle 34"/>
          <p:cNvSpPr/>
          <p:nvPr/>
        </p:nvSpPr>
        <p:spPr>
          <a:xfrm>
            <a:off x="9098280" y="4233672"/>
            <a:ext cx="2514600" cy="621792"/>
          </a:xfrm>
          <a:prstGeom prst="rect">
            <a:avLst/>
          </a:prstGeom>
          <a:solidFill>
            <a:srgbClr val="FAF6EF"/>
          </a:solidFill>
          <a:ln w="10160">
            <a:solidFill>
              <a:srgbClr val="7A2E2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08008" y="4425696"/>
            <a:ext cx="2295144" cy="228600"/>
          </a:xfrm>
          <a:prstGeom prst="rect">
            <a:avLst/>
          </a:prstGeom>
          <a:noFill/>
        </p:spPr>
        <p:txBody>
          <a:bodyPr wrap="square" lIns="0" rIns="0" tIns="0" bIns="0">
            <a:spAutoFit/>
          </a:bodyPr>
          <a:lstStyle/>
          <a:p>
            <a:pPr algn="ctr">
              <a:lnSpc>
                <a:spcPct val="110000"/>
              </a:lnSpc>
              <a:spcAft>
                <a:spcPts val="500"/>
              </a:spcAft>
            </a:pPr>
            <a:r>
              <a:rPr sz="1300" b="0">
                <a:solidFill>
                  <a:srgbClr val="7A2E2E"/>
                </a:solidFill>
                <a:latin typeface="Arial"/>
              </a:rPr>
              <a:t>MONTH 9</a:t>
            </a:r>
          </a:p>
        </p:txBody>
      </p:sp>
      <p:sp>
        <p:nvSpPr>
          <p:cNvPr id="37" name="TextBox 36"/>
          <p:cNvSpPr txBox="1"/>
          <p:nvPr/>
        </p:nvSpPr>
        <p:spPr>
          <a:xfrm>
            <a:off x="9098280" y="5084064"/>
            <a:ext cx="2560320" cy="484632"/>
          </a:xfrm>
          <a:prstGeom prst="rect">
            <a:avLst/>
          </a:prstGeom>
          <a:noFill/>
        </p:spPr>
        <p:txBody>
          <a:bodyPr wrap="square" lIns="0" rIns="0" tIns="0" bIns="0">
            <a:spAutoFit/>
          </a:bodyPr>
          <a:lstStyle/>
          <a:p>
            <a:pPr algn="ctr">
              <a:lnSpc>
                <a:spcPct val="110000"/>
              </a:lnSpc>
              <a:spcAft>
                <a:spcPts val="500"/>
              </a:spcAft>
            </a:pPr>
            <a:r>
              <a:rPr sz="1800" b="0">
                <a:solidFill>
                  <a:srgbClr val="2A2520"/>
                </a:solidFill>
                <a:latin typeface="Arial"/>
              </a:rPr>
              <a:t>Another invitation</a:t>
            </a:r>
          </a:p>
        </p:txBody>
      </p:sp>
      <p:sp>
        <p:nvSpPr>
          <p:cNvPr id="38" name="TextBox 37"/>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Four approved chapter cards. All content available upfront. Print, delivery and email need live provider checks.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IMPACT AND EXECUTION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06</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Relationships and character.</a:t>
            </a:r>
          </a:p>
          <a:p>
            <a:pPr algn="l">
              <a:lnSpc>
                <a:spcPct val="110000"/>
              </a:lnSpc>
              <a:spcAft>
                <a:spcPts val="500"/>
              </a:spcAft>
            </a:pPr>
            <a:r>
              <a:rPr sz="3700" b="0">
                <a:solidFill>
                  <a:srgbClr val="2A2520"/>
                </a:solidFill>
                <a:latin typeface="Georgia"/>
              </a:rPr>
              <a:t>Generosity made personal.</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542032"/>
            <a:ext cx="4343400" cy="320040"/>
          </a:xfrm>
          <a:prstGeom prst="rect">
            <a:avLst/>
          </a:prstGeom>
          <a:noFill/>
        </p:spPr>
        <p:txBody>
          <a:bodyPr wrap="square" lIns="0" rIns="0" tIns="0" bIns="0">
            <a:spAutoFit/>
          </a:bodyPr>
          <a:lstStyle/>
          <a:p>
            <a:pPr algn="l">
              <a:lnSpc>
                <a:spcPct val="110000"/>
              </a:lnSpc>
              <a:spcAft>
                <a:spcPts val="500"/>
              </a:spcAft>
            </a:pPr>
            <a:r>
              <a:rPr sz="1300" b="1">
                <a:solidFill>
                  <a:srgbClr val="7A2E2E"/>
                </a:solidFill>
                <a:latin typeface="Arial"/>
              </a:rPr>
              <a:t>PROPOSED PILOT</a:t>
            </a:r>
          </a:p>
        </p:txBody>
      </p:sp>
      <p:sp>
        <p:nvSpPr>
          <p:cNvPr id="8" name="TextBox 7"/>
          <p:cNvSpPr txBox="1"/>
          <p:nvPr/>
        </p:nvSpPr>
        <p:spPr>
          <a:xfrm>
            <a:off x="594360" y="3090672"/>
            <a:ext cx="4343400" cy="859536"/>
          </a:xfrm>
          <a:prstGeom prst="rect">
            <a:avLst/>
          </a:prstGeom>
          <a:noFill/>
        </p:spPr>
        <p:txBody>
          <a:bodyPr wrap="square" lIns="0" rIns="0" tIns="0" bIns="0">
            <a:spAutoFit/>
          </a:bodyPr>
          <a:lstStyle/>
          <a:p>
            <a:pPr algn="l">
              <a:lnSpc>
                <a:spcPct val="110000"/>
              </a:lnSpc>
              <a:spcAft>
                <a:spcPts val="500"/>
              </a:spcAft>
            </a:pPr>
            <a:r>
              <a:rPr sz="3500" b="0">
                <a:solidFill>
                  <a:srgbClr val="2A2520"/>
                </a:solidFill>
                <a:latin typeface="Georgia"/>
              </a:rPr>
              <a:t>1 church. 10 families.</a:t>
            </a:r>
          </a:p>
        </p:txBody>
      </p:sp>
      <p:sp>
        <p:nvSpPr>
          <p:cNvPr id="9" name="TextBox 8"/>
          <p:cNvSpPr txBox="1"/>
          <p:nvPr/>
        </p:nvSpPr>
        <p:spPr>
          <a:xfrm>
            <a:off x="594360" y="4160520"/>
            <a:ext cx="4297680" cy="1243584"/>
          </a:xfrm>
          <a:prstGeom prst="rect">
            <a:avLst/>
          </a:prstGeom>
          <a:noFill/>
        </p:spPr>
        <p:txBody>
          <a:bodyPr wrap="square" lIns="0" rIns="0" tIns="0" bIns="0">
            <a:spAutoFit/>
          </a:bodyPr>
          <a:lstStyle/>
          <a:p>
            <a:pPr algn="l">
              <a:lnSpc>
                <a:spcPct val="110000"/>
              </a:lnSpc>
              <a:spcAft>
                <a:spcPts val="500"/>
              </a:spcAft>
            </a:pPr>
            <a:r>
              <a:rPr sz="2100" b="0">
                <a:solidFill>
                  <a:srgbClr val="2A2520"/>
                </a:solidFill>
                <a:latin typeface="Arial"/>
              </a:rPr>
              <a:t>Test whether families finish, return and respond, and whether a church will sponsor the next group.</a:t>
            </a:r>
          </a:p>
        </p:txBody>
      </p:sp>
      <p:sp>
        <p:nvSpPr>
          <p:cNvPr id="10" name="TextBox 9"/>
          <p:cNvSpPr txBox="1"/>
          <p:nvPr/>
        </p:nvSpPr>
        <p:spPr>
          <a:xfrm>
            <a:off x="5779008" y="2542032"/>
            <a:ext cx="5669280" cy="347472"/>
          </a:xfrm>
          <a:prstGeom prst="rect">
            <a:avLst/>
          </a:prstGeom>
          <a:noFill/>
        </p:spPr>
        <p:txBody>
          <a:bodyPr wrap="square" lIns="0" rIns="0" tIns="0" bIns="0">
            <a:spAutoFit/>
          </a:bodyPr>
          <a:lstStyle/>
          <a:p>
            <a:pPr algn="l">
              <a:lnSpc>
                <a:spcPct val="110000"/>
              </a:lnSpc>
              <a:spcAft>
                <a:spcPts val="500"/>
              </a:spcAft>
            </a:pPr>
            <a:r>
              <a:rPr sz="1300" b="1">
                <a:solidFill>
                  <a:srgbClr val="7A2E2E"/>
                </a:solidFill>
                <a:latin typeface="Arial"/>
              </a:rPr>
              <a:t>WHAT WE WOULD MEASURE</a:t>
            </a:r>
          </a:p>
        </p:txBody>
      </p:sp>
      <p:sp>
        <p:nvSpPr>
          <p:cNvPr id="11" name="TextBox 10"/>
          <p:cNvSpPr txBox="1"/>
          <p:nvPr/>
        </p:nvSpPr>
        <p:spPr>
          <a:xfrm>
            <a:off x="5779008" y="3136392"/>
            <a:ext cx="5669280" cy="448056"/>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Interviews finished and stories approved</a:t>
            </a:r>
          </a:p>
        </p:txBody>
      </p:sp>
      <p:sp>
        <p:nvSpPr>
          <p:cNvPr id="12" name="TextBox 11"/>
          <p:cNvSpPr txBox="1"/>
          <p:nvPr/>
        </p:nvSpPr>
        <p:spPr>
          <a:xfrm>
            <a:off x="5779008" y="3703320"/>
            <a:ext cx="5669280" cy="448056"/>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Meaningful family conversations and replies</a:t>
            </a:r>
          </a:p>
        </p:txBody>
      </p:sp>
      <p:sp>
        <p:nvSpPr>
          <p:cNvPr id="13" name="TextBox 12"/>
          <p:cNvSpPr txBox="1"/>
          <p:nvPr/>
        </p:nvSpPr>
        <p:spPr>
          <a:xfrm>
            <a:off x="5779008" y="4270248"/>
            <a:ext cx="5669280" cy="448056"/>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Paid demand or a concrete sponsor commitment</a:t>
            </a:r>
          </a:p>
        </p:txBody>
      </p:sp>
      <p:sp>
        <p:nvSpPr>
          <p:cNvPr id="14" name="TextBox 13"/>
          <p:cNvSpPr txBox="1"/>
          <p:nvPr/>
        </p:nvSpPr>
        <p:spPr>
          <a:xfrm>
            <a:off x="5779008" y="4837176"/>
            <a:ext cx="5669280" cy="448056"/>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Time, support and delivery cost per family</a:t>
            </a:r>
          </a:p>
        </p:txBody>
      </p:sp>
      <p:sp>
        <p:nvSpPr>
          <p:cNvPr id="15" name="TextBox 14"/>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Build evidence: 55 automated tests and a local browser journey passed. No pilot outcomes or donation lift claimed.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AI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07</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AI helps prepare the story.</a:t>
            </a:r>
          </a:p>
          <a:p>
            <a:pPr algn="l">
              <a:lnSpc>
                <a:spcPct val="110000"/>
              </a:lnSpc>
              <a:spcAft>
                <a:spcPts val="500"/>
              </a:spcAft>
            </a:pPr>
            <a:r>
              <a:rPr sz="3700" b="0">
                <a:solidFill>
                  <a:srgbClr val="2A2520"/>
                </a:solidFill>
                <a:latin typeface="Georgia"/>
              </a:rPr>
              <a:t>A person approves what it means.</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441448"/>
            <a:ext cx="2286000" cy="274320"/>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TOOL</a:t>
            </a:r>
          </a:p>
        </p:txBody>
      </p:sp>
      <p:sp>
        <p:nvSpPr>
          <p:cNvPr id="8" name="TextBox 7"/>
          <p:cNvSpPr txBox="1"/>
          <p:nvPr/>
        </p:nvSpPr>
        <p:spPr>
          <a:xfrm>
            <a:off x="3154680" y="2441448"/>
            <a:ext cx="4617720" cy="274320"/>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ROLE</a:t>
            </a:r>
          </a:p>
        </p:txBody>
      </p:sp>
      <p:sp>
        <p:nvSpPr>
          <p:cNvPr id="9" name="TextBox 8"/>
          <p:cNvSpPr txBox="1"/>
          <p:nvPr/>
        </p:nvSpPr>
        <p:spPr>
          <a:xfrm>
            <a:off x="8229600" y="2441448"/>
            <a:ext cx="3337560" cy="274320"/>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EVIDENCE TODAY</a:t>
            </a:r>
          </a:p>
        </p:txBody>
      </p:sp>
      <p:cxnSp>
        <p:nvCxnSpPr>
          <p:cNvPr id="10" name="Connector 9"/>
          <p:cNvCxnSpPr/>
          <p:nvPr/>
        </p:nvCxnSpPr>
        <p:spPr>
          <a:xfrm>
            <a:off x="594360" y="2788920"/>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2880360"/>
            <a:ext cx="2377440" cy="512064"/>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Georgia"/>
              </a:rPr>
              <a:t>Gloo</a:t>
            </a:r>
          </a:p>
        </p:txBody>
      </p:sp>
      <p:sp>
        <p:nvSpPr>
          <p:cNvPr id="12" name="TextBox 11"/>
          <p:cNvSpPr txBox="1"/>
          <p:nvPr/>
        </p:nvSpPr>
        <p:spPr>
          <a:xfrm>
            <a:off x="3154680" y="2880360"/>
            <a:ext cx="4663440" cy="502920"/>
          </a:xfrm>
          <a:prstGeom prst="rect">
            <a:avLst/>
          </a:prstGeom>
          <a:noFill/>
        </p:spPr>
        <p:txBody>
          <a:bodyPr wrap="square" lIns="0" rIns="0" tIns="0" bIns="0">
            <a:spAutoFit/>
          </a:bodyPr>
          <a:lstStyle/>
          <a:p>
            <a:pPr algn="l">
              <a:lnSpc>
                <a:spcPct val="110000"/>
              </a:lnSpc>
              <a:spcAft>
                <a:spcPts val="500"/>
              </a:spcAft>
            </a:pPr>
            <a:r>
              <a:rPr sz="1700" b="0">
                <a:solidFill>
                  <a:srgbClr val="2A2520"/>
                </a:solidFill>
                <a:latin typeface="Arial"/>
              </a:rPr>
              <a:t>Follow-ups and source-based chapter drafts</a:t>
            </a:r>
          </a:p>
        </p:txBody>
      </p:sp>
      <p:sp>
        <p:nvSpPr>
          <p:cNvPr id="13" name="TextBox 12"/>
          <p:cNvSpPr txBox="1"/>
          <p:nvPr/>
        </p:nvSpPr>
        <p:spPr>
          <a:xfrm>
            <a:off x="8229600" y="2880360"/>
            <a:ext cx="3337560" cy="502920"/>
          </a:xfrm>
          <a:prstGeom prst="rect">
            <a:avLst/>
          </a:prstGeom>
          <a:noFill/>
        </p:spPr>
        <p:txBody>
          <a:bodyPr wrap="square" lIns="0" rIns="0" tIns="0" bIns="0">
            <a:spAutoFit/>
          </a:bodyPr>
          <a:lstStyle/>
          <a:p>
            <a:pPr algn="l">
              <a:lnSpc>
                <a:spcPct val="110000"/>
              </a:lnSpc>
              <a:spcAft>
                <a:spcPts val="500"/>
              </a:spcAft>
            </a:pPr>
            <a:r>
              <a:rPr sz="1500" b="0">
                <a:solidFill>
                  <a:srgbClr val="6B6358"/>
                </a:solidFill>
                <a:latin typeface="Arial"/>
              </a:rPr>
              <a:t>Integrated; live check pending</a:t>
            </a:r>
          </a:p>
        </p:txBody>
      </p:sp>
      <p:cxnSp>
        <p:nvCxnSpPr>
          <p:cNvPr id="14" name="Connector 13"/>
          <p:cNvCxnSpPr/>
          <p:nvPr/>
        </p:nvCxnSpPr>
        <p:spPr>
          <a:xfrm>
            <a:off x="594360" y="3428999"/>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3520439"/>
            <a:ext cx="2377440" cy="512064"/>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Georgia"/>
              </a:rPr>
              <a:t>ElevenLabs</a:t>
            </a:r>
          </a:p>
        </p:txBody>
      </p:sp>
      <p:sp>
        <p:nvSpPr>
          <p:cNvPr id="16" name="TextBox 15"/>
          <p:cNvSpPr txBox="1"/>
          <p:nvPr/>
        </p:nvSpPr>
        <p:spPr>
          <a:xfrm>
            <a:off x="3154680" y="3520439"/>
            <a:ext cx="4663440" cy="502920"/>
          </a:xfrm>
          <a:prstGeom prst="rect">
            <a:avLst/>
          </a:prstGeom>
          <a:noFill/>
        </p:spPr>
        <p:txBody>
          <a:bodyPr wrap="square" lIns="0" rIns="0" tIns="0" bIns="0">
            <a:spAutoFit/>
          </a:bodyPr>
          <a:lstStyle/>
          <a:p>
            <a:pPr algn="l">
              <a:lnSpc>
                <a:spcPct val="110000"/>
              </a:lnSpc>
              <a:spcAft>
                <a:spcPts val="500"/>
              </a:spcAft>
            </a:pPr>
            <a:r>
              <a:rPr sz="1700" b="0">
                <a:solidFill>
                  <a:srgbClr val="2A2520"/>
                </a:solidFill>
                <a:latin typeface="Arial"/>
              </a:rPr>
              <a:t>Spoken interview questions</a:t>
            </a:r>
          </a:p>
        </p:txBody>
      </p:sp>
      <p:sp>
        <p:nvSpPr>
          <p:cNvPr id="17" name="TextBox 16"/>
          <p:cNvSpPr txBox="1"/>
          <p:nvPr/>
        </p:nvSpPr>
        <p:spPr>
          <a:xfrm>
            <a:off x="8229600" y="3520439"/>
            <a:ext cx="3337560" cy="502920"/>
          </a:xfrm>
          <a:prstGeom prst="rect">
            <a:avLst/>
          </a:prstGeom>
          <a:noFill/>
        </p:spPr>
        <p:txBody>
          <a:bodyPr wrap="square" lIns="0" rIns="0" tIns="0" bIns="0">
            <a:spAutoFit/>
          </a:bodyPr>
          <a:lstStyle/>
          <a:p>
            <a:pPr algn="l">
              <a:lnSpc>
                <a:spcPct val="110000"/>
              </a:lnSpc>
              <a:spcAft>
                <a:spcPts val="500"/>
              </a:spcAft>
            </a:pPr>
            <a:r>
              <a:rPr sz="1500" b="0">
                <a:solidFill>
                  <a:srgbClr val="6B6358"/>
                </a:solidFill>
                <a:latin typeface="Arial"/>
              </a:rPr>
              <a:t>Integrated; voice audition pending</a:t>
            </a:r>
          </a:p>
        </p:txBody>
      </p:sp>
      <p:cxnSp>
        <p:nvCxnSpPr>
          <p:cNvPr id="18" name="Connector 17"/>
          <p:cNvCxnSpPr/>
          <p:nvPr/>
        </p:nvCxnSpPr>
        <p:spPr>
          <a:xfrm>
            <a:off x="594360" y="4069080"/>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160520"/>
            <a:ext cx="2377440" cy="512064"/>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Georgia"/>
              </a:rPr>
              <a:t>Whisper</a:t>
            </a:r>
          </a:p>
        </p:txBody>
      </p:sp>
      <p:sp>
        <p:nvSpPr>
          <p:cNvPr id="20" name="TextBox 19"/>
          <p:cNvSpPr txBox="1"/>
          <p:nvPr/>
        </p:nvSpPr>
        <p:spPr>
          <a:xfrm>
            <a:off x="3154680" y="4160520"/>
            <a:ext cx="4663440" cy="502920"/>
          </a:xfrm>
          <a:prstGeom prst="rect">
            <a:avLst/>
          </a:prstGeom>
          <a:noFill/>
        </p:spPr>
        <p:txBody>
          <a:bodyPr wrap="square" lIns="0" rIns="0" tIns="0" bIns="0">
            <a:spAutoFit/>
          </a:bodyPr>
          <a:lstStyle/>
          <a:p>
            <a:pPr algn="l">
              <a:lnSpc>
                <a:spcPct val="110000"/>
              </a:lnSpc>
              <a:spcAft>
                <a:spcPts val="500"/>
              </a:spcAft>
            </a:pPr>
            <a:r>
              <a:rPr sz="1700" b="0">
                <a:solidFill>
                  <a:srgbClr val="2A2520"/>
                </a:solidFill>
                <a:latin typeface="Arial"/>
              </a:rPr>
              <a:t>Editable recording transcripts</a:t>
            </a:r>
          </a:p>
        </p:txBody>
      </p:sp>
      <p:sp>
        <p:nvSpPr>
          <p:cNvPr id="21" name="TextBox 20"/>
          <p:cNvSpPr txBox="1"/>
          <p:nvPr/>
        </p:nvSpPr>
        <p:spPr>
          <a:xfrm>
            <a:off x="8229600" y="4160520"/>
            <a:ext cx="3337560" cy="502920"/>
          </a:xfrm>
          <a:prstGeom prst="rect">
            <a:avLst/>
          </a:prstGeom>
          <a:noFill/>
        </p:spPr>
        <p:txBody>
          <a:bodyPr wrap="square" lIns="0" rIns="0" tIns="0" bIns="0">
            <a:spAutoFit/>
          </a:bodyPr>
          <a:lstStyle/>
          <a:p>
            <a:pPr algn="l">
              <a:lnSpc>
                <a:spcPct val="110000"/>
              </a:lnSpc>
              <a:spcAft>
                <a:spcPts val="500"/>
              </a:spcAft>
            </a:pPr>
            <a:r>
              <a:rPr sz="1500" b="0">
                <a:solidFill>
                  <a:srgbClr val="6B6358"/>
                </a:solidFill>
                <a:latin typeface="Arial"/>
              </a:rPr>
              <a:t>Integrated; live check pending</a:t>
            </a:r>
          </a:p>
        </p:txBody>
      </p:sp>
      <p:cxnSp>
        <p:nvCxnSpPr>
          <p:cNvPr id="22" name="Connector 21"/>
          <p:cNvCxnSpPr/>
          <p:nvPr/>
        </p:nvCxnSpPr>
        <p:spPr>
          <a:xfrm>
            <a:off x="594360" y="4709160"/>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4800600"/>
            <a:ext cx="2377440" cy="512064"/>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Georgia"/>
              </a:rPr>
              <a:t>HyperFrames + Remotion</a:t>
            </a:r>
          </a:p>
        </p:txBody>
      </p:sp>
      <p:sp>
        <p:nvSpPr>
          <p:cNvPr id="24" name="TextBox 23"/>
          <p:cNvSpPr txBox="1"/>
          <p:nvPr/>
        </p:nvSpPr>
        <p:spPr>
          <a:xfrm>
            <a:off x="3154680" y="4800600"/>
            <a:ext cx="4663440" cy="502920"/>
          </a:xfrm>
          <a:prstGeom prst="rect">
            <a:avLst/>
          </a:prstGeom>
          <a:noFill/>
        </p:spPr>
        <p:txBody>
          <a:bodyPr wrap="square" lIns="0" rIns="0" tIns="0" bIns="0">
            <a:spAutoFit/>
          </a:bodyPr>
          <a:lstStyle/>
          <a:p>
            <a:pPr algn="l">
              <a:lnSpc>
                <a:spcPct val="110000"/>
              </a:lnSpc>
              <a:spcAft>
                <a:spcPts val="500"/>
              </a:spcAft>
            </a:pPr>
            <a:r>
              <a:rPr sz="1700" b="0">
                <a:solidFill>
                  <a:srgbClr val="2A2520"/>
                </a:solidFill>
                <a:latin typeface="Arial"/>
              </a:rPr>
              <a:t>Titles, timed captions and a branded closer</a:t>
            </a:r>
          </a:p>
        </p:txBody>
      </p:sp>
      <p:sp>
        <p:nvSpPr>
          <p:cNvPr id="25" name="TextBox 24"/>
          <p:cNvSpPr txBox="1"/>
          <p:nvPr/>
        </p:nvSpPr>
        <p:spPr>
          <a:xfrm>
            <a:off x="8229600" y="4800600"/>
            <a:ext cx="3337560" cy="502920"/>
          </a:xfrm>
          <a:prstGeom prst="rect">
            <a:avLst/>
          </a:prstGeom>
          <a:noFill/>
        </p:spPr>
        <p:txBody>
          <a:bodyPr wrap="square" lIns="0" rIns="0" tIns="0" bIns="0">
            <a:spAutoFit/>
          </a:bodyPr>
          <a:lstStyle/>
          <a:p>
            <a:pPr algn="l">
              <a:lnSpc>
                <a:spcPct val="110000"/>
              </a:lnSpc>
              <a:spcAft>
                <a:spcPts val="500"/>
              </a:spcAft>
            </a:pPr>
            <a:r>
              <a:rPr sz="1500" b="0">
                <a:solidFill>
                  <a:srgbClr val="6B6358"/>
                </a:solidFill>
                <a:latin typeface="Arial"/>
              </a:rPr>
              <a:t>Synthetic local render passed</a:t>
            </a:r>
          </a:p>
        </p:txBody>
      </p:sp>
      <p:sp>
        <p:nvSpPr>
          <p:cNvPr id="26" name="TextBox 25"/>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Editing and caption timing currently need an operator. No automatic professional-editing claim.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PRESENTATION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08</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Two voices. One family journey.</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313432"/>
            <a:ext cx="4754880" cy="594360"/>
          </a:xfrm>
          <a:prstGeom prst="rect">
            <a:avLst/>
          </a:prstGeom>
          <a:noFill/>
        </p:spPr>
        <p:txBody>
          <a:bodyPr wrap="square" lIns="0" rIns="0" tIns="0" bIns="0">
            <a:spAutoFit/>
          </a:bodyPr>
          <a:lstStyle/>
          <a:p>
            <a:pPr algn="l">
              <a:lnSpc>
                <a:spcPct val="110000"/>
              </a:lnSpc>
              <a:spcAft>
                <a:spcPts val="500"/>
              </a:spcAft>
            </a:pPr>
            <a:r>
              <a:rPr sz="3500" b="0">
                <a:solidFill>
                  <a:srgbClr val="2A2520"/>
                </a:solidFill>
                <a:latin typeface="Georgia"/>
              </a:rPr>
              <a:t>Tayloe</a:t>
            </a:r>
          </a:p>
        </p:txBody>
      </p:sp>
      <p:sp>
        <p:nvSpPr>
          <p:cNvPr id="8" name="TextBox 7"/>
          <p:cNvSpPr txBox="1"/>
          <p:nvPr/>
        </p:nvSpPr>
        <p:spPr>
          <a:xfrm>
            <a:off x="594360" y="3081528"/>
            <a:ext cx="4663440" cy="1444752"/>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Arial"/>
              </a:rPr>
              <a:t>The human need</a:t>
            </a:r>
          </a:p>
          <a:p>
            <a:pPr algn="l">
              <a:lnSpc>
                <a:spcPct val="110000"/>
              </a:lnSpc>
              <a:spcAft>
                <a:spcPts val="500"/>
              </a:spcAft>
            </a:pPr>
            <a:r>
              <a:rPr sz="2500" b="0">
                <a:solidFill>
                  <a:srgbClr val="2A2520"/>
                </a:solidFill>
                <a:latin typeface="Arial"/>
              </a:rPr>
              <a:t>The family experience</a:t>
            </a:r>
          </a:p>
          <a:p>
            <a:pPr algn="l">
              <a:lnSpc>
                <a:spcPct val="110000"/>
              </a:lnSpc>
              <a:spcAft>
                <a:spcPts val="500"/>
              </a:spcAft>
            </a:pPr>
            <a:r>
              <a:rPr sz="2500" b="0">
                <a:solidFill>
                  <a:srgbClr val="2A2520"/>
                </a:solidFill>
                <a:latin typeface="Arial"/>
              </a:rPr>
              <a:t>The intended impact</a:t>
            </a:r>
          </a:p>
        </p:txBody>
      </p:sp>
      <p:sp>
        <p:nvSpPr>
          <p:cNvPr id="9" name="TextBox 8"/>
          <p:cNvSpPr txBox="1"/>
          <p:nvPr/>
        </p:nvSpPr>
        <p:spPr>
          <a:xfrm>
            <a:off x="6437376" y="2313432"/>
            <a:ext cx="4754880" cy="594360"/>
          </a:xfrm>
          <a:prstGeom prst="rect">
            <a:avLst/>
          </a:prstGeom>
          <a:noFill/>
        </p:spPr>
        <p:txBody>
          <a:bodyPr wrap="square" lIns="0" rIns="0" tIns="0" bIns="0">
            <a:spAutoFit/>
          </a:bodyPr>
          <a:lstStyle/>
          <a:p>
            <a:pPr algn="l">
              <a:lnSpc>
                <a:spcPct val="110000"/>
              </a:lnSpc>
              <a:spcAft>
                <a:spcPts val="500"/>
              </a:spcAft>
            </a:pPr>
            <a:r>
              <a:rPr sz="3500" b="0">
                <a:solidFill>
                  <a:srgbClr val="2A2520"/>
                </a:solidFill>
                <a:latin typeface="Georgia"/>
              </a:rPr>
              <a:t>Kaelyn</a:t>
            </a:r>
          </a:p>
        </p:txBody>
      </p:sp>
      <p:sp>
        <p:nvSpPr>
          <p:cNvPr id="10" name="TextBox 9"/>
          <p:cNvSpPr txBox="1"/>
          <p:nvPr/>
        </p:nvSpPr>
        <p:spPr>
          <a:xfrm>
            <a:off x="6437376" y="3081528"/>
            <a:ext cx="4663440" cy="1444752"/>
          </a:xfrm>
          <a:prstGeom prst="rect">
            <a:avLst/>
          </a:prstGeom>
          <a:noFill/>
        </p:spPr>
        <p:txBody>
          <a:bodyPr wrap="square" lIns="0" rIns="0" tIns="0" bIns="0">
            <a:spAutoFit/>
          </a:bodyPr>
          <a:lstStyle/>
          <a:p>
            <a:pPr algn="l">
              <a:lnSpc>
                <a:spcPct val="110000"/>
              </a:lnSpc>
              <a:spcAft>
                <a:spcPts val="500"/>
              </a:spcAft>
            </a:pPr>
            <a:r>
              <a:rPr sz="2500" b="0">
                <a:solidFill>
                  <a:srgbClr val="2A2520"/>
                </a:solidFill>
                <a:latin typeface="Arial"/>
              </a:rPr>
              <a:t>The working build</a:t>
            </a:r>
          </a:p>
          <a:p>
            <a:pPr algn="l">
              <a:lnSpc>
                <a:spcPct val="110000"/>
              </a:lnSpc>
              <a:spcAft>
                <a:spcPts val="500"/>
              </a:spcAft>
            </a:pPr>
            <a:r>
              <a:rPr sz="2500" b="0">
                <a:solidFill>
                  <a:srgbClr val="2A2520"/>
                </a:solidFill>
                <a:latin typeface="Arial"/>
              </a:rPr>
              <a:t>The AI and review boundaries</a:t>
            </a:r>
          </a:p>
          <a:p>
            <a:pPr algn="l">
              <a:lnSpc>
                <a:spcPct val="110000"/>
              </a:lnSpc>
              <a:spcAft>
                <a:spcPts val="500"/>
              </a:spcAft>
            </a:pPr>
            <a:r>
              <a:rPr sz="2500" b="0">
                <a:solidFill>
                  <a:srgbClr val="2A2520"/>
                </a:solidFill>
                <a:latin typeface="Arial"/>
              </a:rPr>
              <a:t>The demonstrated evidence</a:t>
            </a:r>
          </a:p>
        </p:txBody>
      </p:sp>
      <p:cxnSp>
        <p:nvCxnSpPr>
          <p:cNvPr id="11" name="Connector 10"/>
          <p:cNvCxnSpPr/>
          <p:nvPr/>
        </p:nvCxnSpPr>
        <p:spPr>
          <a:xfrm>
            <a:off x="594360" y="4992624"/>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5303520"/>
            <a:ext cx="10972800" cy="466344"/>
          </a:xfrm>
          <a:prstGeom prst="rect">
            <a:avLst/>
          </a:prstGeom>
          <a:noFill/>
        </p:spPr>
        <p:txBody>
          <a:bodyPr wrap="square" lIns="0" rIns="0" tIns="0" bIns="0">
            <a:spAutoFit/>
          </a:bodyPr>
          <a:lstStyle/>
          <a:p>
            <a:pPr algn="l">
              <a:lnSpc>
                <a:spcPct val="110000"/>
              </a:lnSpc>
              <a:spcAft>
                <a:spcPts val="500"/>
              </a:spcAft>
            </a:pPr>
            <a:r>
              <a:rPr sz="2000" b="0">
                <a:solidFill>
                  <a:srgbClr val="7A2E2E"/>
                </a:solidFill>
                <a:latin typeface="Arial"/>
              </a:rPr>
              <a:t>For a 90-second summary: use slides 1 → 2 → 4 → 6 → 7 → 10.</a:t>
            </a:r>
          </a:p>
        </p:txBody>
      </p:sp>
      <p:sp>
        <p:nvSpPr>
          <p:cNvPr id="13" name="TextBox 12"/>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The separate demo-video limit is 90 seconds. Confirm the run of show before assuming extra stage 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PRESENTATION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09</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Show the journey, with one human moment.</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Rectangle 6"/>
          <p:cNvSpPr/>
          <p:nvPr/>
        </p:nvSpPr>
        <p:spPr>
          <a:xfrm>
            <a:off x="594360" y="2176272"/>
            <a:ext cx="7589520" cy="3602736"/>
          </a:xfrm>
          <a:prstGeom prst="rect">
            <a:avLst/>
          </a:prstGeom>
          <a:solidFill>
            <a:srgbClr val="2A2520"/>
          </a:solidFill>
          <a:ln w="10160">
            <a:solidFill>
              <a:srgbClr val="2A25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3090672"/>
            <a:ext cx="6858000" cy="777240"/>
          </a:xfrm>
          <a:prstGeom prst="rect">
            <a:avLst/>
          </a:prstGeom>
          <a:noFill/>
        </p:spPr>
        <p:txBody>
          <a:bodyPr wrap="square" lIns="0" rIns="0" tIns="0" bIns="0">
            <a:spAutoFit/>
          </a:bodyPr>
          <a:lstStyle/>
          <a:p>
            <a:pPr algn="ctr">
              <a:lnSpc>
                <a:spcPct val="110000"/>
              </a:lnSpc>
              <a:spcAft>
                <a:spcPts val="500"/>
              </a:spcAft>
            </a:pPr>
            <a:r>
              <a:rPr sz="3900" b="0">
                <a:solidFill>
                  <a:srgbClr val="FDFBF6"/>
                </a:solidFill>
                <a:latin typeface="Georgia"/>
              </a:rPr>
              <a:t>Demo video slot</a:t>
            </a:r>
          </a:p>
        </p:txBody>
      </p:sp>
      <p:sp>
        <p:nvSpPr>
          <p:cNvPr id="9" name="TextBox 8"/>
          <p:cNvSpPr txBox="1"/>
          <p:nvPr/>
        </p:nvSpPr>
        <p:spPr>
          <a:xfrm>
            <a:off x="960120" y="4023360"/>
            <a:ext cx="6858000" cy="457200"/>
          </a:xfrm>
          <a:prstGeom prst="rect">
            <a:avLst/>
          </a:prstGeom>
          <a:noFill/>
        </p:spPr>
        <p:txBody>
          <a:bodyPr wrap="square" lIns="0" rIns="0" tIns="0" bIns="0">
            <a:spAutoFit/>
          </a:bodyPr>
          <a:lstStyle/>
          <a:p>
            <a:pPr algn="ctr">
              <a:lnSpc>
                <a:spcPct val="110000"/>
              </a:lnSpc>
              <a:spcAft>
                <a:spcPts val="500"/>
              </a:spcAft>
            </a:pPr>
            <a:r>
              <a:rPr sz="1700" b="0">
                <a:solidFill>
                  <a:srgbClr val="FDFBF6"/>
                </a:solidFill>
                <a:latin typeface="Arial"/>
              </a:rPr>
              <a:t>Maximum 90 seconds  ·  Approved footage pending</a:t>
            </a:r>
          </a:p>
        </p:txBody>
      </p:sp>
      <p:sp>
        <p:nvSpPr>
          <p:cNvPr id="10" name="TextBox 9"/>
          <p:cNvSpPr txBox="1"/>
          <p:nvPr/>
        </p:nvSpPr>
        <p:spPr>
          <a:xfrm>
            <a:off x="8668512" y="2359152"/>
            <a:ext cx="2926080" cy="457200"/>
          </a:xfrm>
          <a:prstGeom prst="rect">
            <a:avLst/>
          </a:prstGeom>
          <a:noFill/>
        </p:spPr>
        <p:txBody>
          <a:bodyPr wrap="square" lIns="0" rIns="0" tIns="0" bIns="0">
            <a:spAutoFit/>
          </a:bodyPr>
          <a:lstStyle/>
          <a:p>
            <a:pPr algn="l">
              <a:lnSpc>
                <a:spcPct val="110000"/>
              </a:lnSpc>
              <a:spcAft>
                <a:spcPts val="500"/>
              </a:spcAft>
            </a:pPr>
            <a:r>
              <a:rPr sz="2100" b="0">
                <a:solidFill>
                  <a:srgbClr val="2A2520"/>
                </a:solidFill>
                <a:latin typeface="Georgia"/>
              </a:rPr>
              <a:t>Record these moments</a:t>
            </a:r>
          </a:p>
        </p:txBody>
      </p:sp>
      <p:sp>
        <p:nvSpPr>
          <p:cNvPr id="11" name="TextBox 10"/>
          <p:cNvSpPr txBox="1"/>
          <p:nvPr/>
        </p:nvSpPr>
        <p:spPr>
          <a:xfrm>
            <a:off x="8668512" y="3108960"/>
            <a:ext cx="2880360" cy="2148840"/>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One answer</a:t>
            </a:r>
          </a:p>
          <a:p>
            <a:pPr algn="l">
              <a:lnSpc>
                <a:spcPct val="110000"/>
              </a:lnSpc>
              <a:spcAft>
                <a:spcPts val="500"/>
              </a:spcAft>
            </a:pPr>
            <a:r>
              <a:rPr sz="2000" b="0">
                <a:solidFill>
                  <a:srgbClr val="2A2520"/>
                </a:solidFill>
                <a:latin typeface="Arial"/>
              </a:rPr>
              <a:t>One review decision</a:t>
            </a:r>
          </a:p>
          <a:p>
            <a:pPr algn="l">
              <a:lnSpc>
                <a:spcPct val="110000"/>
              </a:lnSpc>
              <a:spcAft>
                <a:spcPts val="500"/>
              </a:spcAft>
            </a:pPr>
            <a:r>
              <a:rPr sz="2000" b="0">
                <a:solidFill>
                  <a:srgbClr val="2A2520"/>
                </a:solidFill>
                <a:latin typeface="Arial"/>
              </a:rPr>
              <a:t>The complete collection</a:t>
            </a:r>
          </a:p>
          <a:p>
            <a:pPr algn="l">
              <a:lnSpc>
                <a:spcPct val="110000"/>
              </a:lnSpc>
              <a:spcAft>
                <a:spcPts val="500"/>
              </a:spcAft>
            </a:pPr>
            <a:r>
              <a:rPr sz="2000" b="0">
                <a:solidFill>
                  <a:srgbClr val="2A2520"/>
                </a:solidFill>
                <a:latin typeface="Arial"/>
              </a:rPr>
              <a:t>A recipient response</a:t>
            </a:r>
          </a:p>
        </p:txBody>
      </p:sp>
      <p:sp>
        <p:nvSpPr>
          <p:cNvPr id="12" name="TextBox 11"/>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No finished video is embedded. Replace this slot after real-device and provider checks.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PRESENTATION  ·  20%</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10</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A story they can return to.</a:t>
            </a:r>
          </a:p>
          <a:p>
            <a:pPr algn="l">
              <a:lnSpc>
                <a:spcPct val="110000"/>
              </a:lnSpc>
              <a:spcAft>
                <a:spcPts val="500"/>
              </a:spcAft>
            </a:pPr>
            <a:r>
              <a:rPr sz="3700" b="0">
                <a:solidFill>
                  <a:srgbClr val="2A2520"/>
                </a:solidFill>
                <a:latin typeface="Georgia"/>
              </a:rPr>
              <a:t>A conversation they can continue.</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624328"/>
            <a:ext cx="3566160" cy="347472"/>
          </a:xfrm>
          <a:prstGeom prst="rect">
            <a:avLst/>
          </a:prstGeom>
          <a:noFill/>
        </p:spPr>
        <p:txBody>
          <a:bodyPr wrap="square" lIns="0" rIns="0" tIns="0" bIns="0">
            <a:spAutoFit/>
          </a:bodyPr>
          <a:lstStyle/>
          <a:p>
            <a:pPr algn="l">
              <a:lnSpc>
                <a:spcPct val="110000"/>
              </a:lnSpc>
              <a:spcAft>
                <a:spcPts val="500"/>
              </a:spcAft>
            </a:pPr>
            <a:r>
              <a:rPr sz="1700" b="1">
                <a:solidFill>
                  <a:srgbClr val="7A2E2E"/>
                </a:solidFill>
                <a:latin typeface="Arial"/>
              </a:rPr>
              <a:t>Concept / Product</a:t>
            </a:r>
          </a:p>
        </p:txBody>
      </p:sp>
      <p:sp>
        <p:nvSpPr>
          <p:cNvPr id="8" name="TextBox 7"/>
          <p:cNvSpPr txBox="1"/>
          <p:nvPr/>
        </p:nvSpPr>
        <p:spPr>
          <a:xfrm>
            <a:off x="4343400" y="2624328"/>
            <a:ext cx="6839712" cy="384048"/>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A guided legacy gift families control</a:t>
            </a:r>
          </a:p>
        </p:txBody>
      </p:sp>
      <p:sp>
        <p:nvSpPr>
          <p:cNvPr id="9" name="TextBox 8"/>
          <p:cNvSpPr txBox="1"/>
          <p:nvPr/>
        </p:nvSpPr>
        <p:spPr>
          <a:xfrm>
            <a:off x="594360" y="3209544"/>
            <a:ext cx="3566160" cy="347472"/>
          </a:xfrm>
          <a:prstGeom prst="rect">
            <a:avLst/>
          </a:prstGeom>
          <a:noFill/>
        </p:spPr>
        <p:txBody>
          <a:bodyPr wrap="square" lIns="0" rIns="0" tIns="0" bIns="0">
            <a:spAutoFit/>
          </a:bodyPr>
          <a:lstStyle/>
          <a:p>
            <a:pPr algn="l">
              <a:lnSpc>
                <a:spcPct val="110000"/>
              </a:lnSpc>
              <a:spcAft>
                <a:spcPts val="500"/>
              </a:spcAft>
            </a:pPr>
            <a:r>
              <a:rPr sz="1700" b="1">
                <a:solidFill>
                  <a:srgbClr val="7A2E2E"/>
                </a:solidFill>
                <a:latin typeface="Arial"/>
              </a:rPr>
              <a:t>Innovation</a:t>
            </a:r>
          </a:p>
        </p:txBody>
      </p:sp>
      <p:sp>
        <p:nvSpPr>
          <p:cNvPr id="10" name="TextBox 9"/>
          <p:cNvSpPr txBox="1"/>
          <p:nvPr/>
        </p:nvSpPr>
        <p:spPr>
          <a:xfrm>
            <a:off x="4343400" y="3209544"/>
            <a:ext cx="6839712" cy="384048"/>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Faith and values, physical reminders and a reply loop</a:t>
            </a:r>
          </a:p>
        </p:txBody>
      </p:sp>
      <p:sp>
        <p:nvSpPr>
          <p:cNvPr id="11" name="TextBox 10"/>
          <p:cNvSpPr txBox="1"/>
          <p:nvPr/>
        </p:nvSpPr>
        <p:spPr>
          <a:xfrm>
            <a:off x="594360" y="3794760"/>
            <a:ext cx="3566160" cy="347472"/>
          </a:xfrm>
          <a:prstGeom prst="rect">
            <a:avLst/>
          </a:prstGeom>
          <a:noFill/>
        </p:spPr>
        <p:txBody>
          <a:bodyPr wrap="square" lIns="0" rIns="0" tIns="0" bIns="0">
            <a:spAutoFit/>
          </a:bodyPr>
          <a:lstStyle/>
          <a:p>
            <a:pPr algn="l">
              <a:lnSpc>
                <a:spcPct val="110000"/>
              </a:lnSpc>
              <a:spcAft>
                <a:spcPts val="500"/>
              </a:spcAft>
            </a:pPr>
            <a:r>
              <a:rPr sz="1700" b="1">
                <a:solidFill>
                  <a:srgbClr val="7A2E2E"/>
                </a:solidFill>
                <a:latin typeface="Arial"/>
              </a:rPr>
              <a:t>Impact and Execution</a:t>
            </a:r>
          </a:p>
        </p:txBody>
      </p:sp>
      <p:sp>
        <p:nvSpPr>
          <p:cNvPr id="12" name="TextBox 11"/>
          <p:cNvSpPr txBox="1"/>
          <p:nvPr/>
        </p:nvSpPr>
        <p:spPr>
          <a:xfrm>
            <a:off x="4343400" y="3794760"/>
            <a:ext cx="6839712" cy="384048"/>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Relationships and character; measurable pilot plan</a:t>
            </a:r>
          </a:p>
        </p:txBody>
      </p:sp>
      <p:sp>
        <p:nvSpPr>
          <p:cNvPr id="13" name="TextBox 12"/>
          <p:cNvSpPr txBox="1"/>
          <p:nvPr/>
        </p:nvSpPr>
        <p:spPr>
          <a:xfrm>
            <a:off x="594360" y="4379976"/>
            <a:ext cx="3566160" cy="347472"/>
          </a:xfrm>
          <a:prstGeom prst="rect">
            <a:avLst/>
          </a:prstGeom>
          <a:noFill/>
        </p:spPr>
        <p:txBody>
          <a:bodyPr wrap="square" lIns="0" rIns="0" tIns="0" bIns="0">
            <a:spAutoFit/>
          </a:bodyPr>
          <a:lstStyle/>
          <a:p>
            <a:pPr algn="l">
              <a:lnSpc>
                <a:spcPct val="110000"/>
              </a:lnSpc>
              <a:spcAft>
                <a:spcPts val="500"/>
              </a:spcAft>
            </a:pPr>
            <a:r>
              <a:rPr sz="1700" b="1">
                <a:solidFill>
                  <a:srgbClr val="7A2E2E"/>
                </a:solidFill>
                <a:latin typeface="Arial"/>
              </a:rPr>
              <a:t>AI</a:t>
            </a:r>
          </a:p>
        </p:txBody>
      </p:sp>
      <p:sp>
        <p:nvSpPr>
          <p:cNvPr id="14" name="TextBox 13"/>
          <p:cNvSpPr txBox="1"/>
          <p:nvPr/>
        </p:nvSpPr>
        <p:spPr>
          <a:xfrm>
            <a:off x="4343400" y="4379976"/>
            <a:ext cx="6839712" cy="384048"/>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Source-based assistance with human review</a:t>
            </a:r>
          </a:p>
        </p:txBody>
      </p:sp>
      <p:sp>
        <p:nvSpPr>
          <p:cNvPr id="15" name="TextBox 14"/>
          <p:cNvSpPr txBox="1"/>
          <p:nvPr/>
        </p:nvSpPr>
        <p:spPr>
          <a:xfrm>
            <a:off x="594360" y="4965192"/>
            <a:ext cx="3566160" cy="347472"/>
          </a:xfrm>
          <a:prstGeom prst="rect">
            <a:avLst/>
          </a:prstGeom>
          <a:noFill/>
        </p:spPr>
        <p:txBody>
          <a:bodyPr wrap="square" lIns="0" rIns="0" tIns="0" bIns="0">
            <a:spAutoFit/>
          </a:bodyPr>
          <a:lstStyle/>
          <a:p>
            <a:pPr algn="l">
              <a:lnSpc>
                <a:spcPct val="110000"/>
              </a:lnSpc>
              <a:spcAft>
                <a:spcPts val="500"/>
              </a:spcAft>
            </a:pPr>
            <a:r>
              <a:rPr sz="1700" b="1">
                <a:solidFill>
                  <a:srgbClr val="7A2E2E"/>
                </a:solidFill>
                <a:latin typeface="Arial"/>
              </a:rPr>
              <a:t>Presentation</a:t>
            </a:r>
          </a:p>
        </p:txBody>
      </p:sp>
      <p:sp>
        <p:nvSpPr>
          <p:cNvPr id="16" name="TextBox 15"/>
          <p:cNvSpPr txBox="1"/>
          <p:nvPr/>
        </p:nvSpPr>
        <p:spPr>
          <a:xfrm>
            <a:off x="4343400" y="4965192"/>
            <a:ext cx="6839712" cy="384048"/>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One real, understandable journey</a:t>
            </a:r>
          </a:p>
        </p:txBody>
      </p:sp>
      <p:sp>
        <p:nvSpPr>
          <p:cNvPr id="17" name="TextBox 16"/>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Five criteria, each worth 20%. Evidence over promises. Time Tapestry, editable project name.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APPENDIX  ·  JUDGE QUESTION</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11</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“Why not interview your parent yourself?”</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112264"/>
            <a:ext cx="10698480" cy="1143000"/>
          </a:xfrm>
          <a:prstGeom prst="rect">
            <a:avLst/>
          </a:prstGeom>
          <a:noFill/>
        </p:spPr>
        <p:txBody>
          <a:bodyPr wrap="square" lIns="0" rIns="0" tIns="0" bIns="0">
            <a:spAutoFit/>
          </a:bodyPr>
          <a:lstStyle/>
          <a:p>
            <a:pPr algn="l">
              <a:lnSpc>
                <a:spcPct val="110000"/>
              </a:lnSpc>
              <a:spcAft>
                <a:spcPts val="500"/>
              </a:spcAft>
            </a:pPr>
            <a:r>
              <a:rPr sz="3200" b="0">
                <a:solidFill>
                  <a:srgbClr val="2A2520"/>
                </a:solidFill>
                <a:latin typeface="Georgia"/>
              </a:rPr>
              <a:t>We encourage that. The gap we are testing</a:t>
            </a:r>
          </a:p>
          <a:p>
            <a:pPr algn="l">
              <a:lnSpc>
                <a:spcPct val="110000"/>
              </a:lnSpc>
              <a:spcAft>
                <a:spcPts val="500"/>
              </a:spcAft>
            </a:pPr>
            <a:r>
              <a:rPr sz="3200" b="0">
                <a:solidFill>
                  <a:srgbClr val="2A2520"/>
                </a:solidFill>
                <a:latin typeface="Georgia"/>
              </a:rPr>
              <a:t>is follow-through when life gets in the way.</a:t>
            </a:r>
          </a:p>
        </p:txBody>
      </p:sp>
      <p:sp>
        <p:nvSpPr>
          <p:cNvPr id="8" name="TextBox 7"/>
          <p:cNvSpPr txBox="1"/>
          <p:nvPr/>
        </p:nvSpPr>
        <p:spPr>
          <a:xfrm>
            <a:off x="594360" y="4087368"/>
            <a:ext cx="3474720" cy="45720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A place to start</a:t>
            </a:r>
          </a:p>
        </p:txBody>
      </p:sp>
      <p:sp>
        <p:nvSpPr>
          <p:cNvPr id="9" name="TextBox 8"/>
          <p:cNvSpPr txBox="1"/>
          <p:nvPr/>
        </p:nvSpPr>
        <p:spPr>
          <a:xfrm>
            <a:off x="594360" y="4754880"/>
            <a:ext cx="3383280" cy="841248"/>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Thoughtful prompts focused on lived values.</a:t>
            </a:r>
          </a:p>
        </p:txBody>
      </p:sp>
      <p:sp>
        <p:nvSpPr>
          <p:cNvPr id="10" name="TextBox 9"/>
          <p:cNvSpPr txBox="1"/>
          <p:nvPr/>
        </p:nvSpPr>
        <p:spPr>
          <a:xfrm>
            <a:off x="4389120" y="4087368"/>
            <a:ext cx="3474720" cy="45720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Control over the story</a:t>
            </a:r>
          </a:p>
        </p:txBody>
      </p:sp>
      <p:sp>
        <p:nvSpPr>
          <p:cNvPr id="11" name="TextBox 10"/>
          <p:cNvSpPr txBox="1"/>
          <p:nvPr/>
        </p:nvSpPr>
        <p:spPr>
          <a:xfrm>
            <a:off x="4389120" y="4754880"/>
            <a:ext cx="3383280" cy="841248"/>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Answer over time, choose takes and approve.</a:t>
            </a:r>
          </a:p>
        </p:txBody>
      </p:sp>
      <p:sp>
        <p:nvSpPr>
          <p:cNvPr id="12" name="TextBox 11"/>
          <p:cNvSpPr txBox="1"/>
          <p:nvPr/>
        </p:nvSpPr>
        <p:spPr>
          <a:xfrm>
            <a:off x="8183880" y="4087368"/>
            <a:ext cx="3474720" cy="457200"/>
          </a:xfrm>
          <a:prstGeom prst="rect">
            <a:avLst/>
          </a:prstGeom>
          <a:noFill/>
        </p:spPr>
        <p:txBody>
          <a:bodyPr wrap="square" lIns="0" rIns="0" tIns="0" bIns="0">
            <a:spAutoFit/>
          </a:bodyPr>
          <a:lstStyle/>
          <a:p>
            <a:pPr algn="l">
              <a:lnSpc>
                <a:spcPct val="110000"/>
              </a:lnSpc>
              <a:spcAft>
                <a:spcPts val="500"/>
              </a:spcAft>
            </a:pPr>
            <a:r>
              <a:rPr sz="2300" b="0">
                <a:solidFill>
                  <a:srgbClr val="2A2520"/>
                </a:solidFill>
                <a:latin typeface="Georgia"/>
              </a:rPr>
              <a:t>A reason to return</a:t>
            </a:r>
          </a:p>
        </p:txBody>
      </p:sp>
      <p:sp>
        <p:nvSpPr>
          <p:cNvPr id="13" name="TextBox 12"/>
          <p:cNvSpPr txBox="1"/>
          <p:nvPr/>
        </p:nvSpPr>
        <p:spPr>
          <a:xfrm>
            <a:off x="8183880" y="4754880"/>
            <a:ext cx="3383280" cy="841248"/>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Arial"/>
              </a:rPr>
              <a:t>A complete gift, physical reminders and replies.</a:t>
            </a:r>
          </a:p>
        </p:txBody>
      </p:sp>
      <p:sp>
        <p:nvSpPr>
          <p:cNvPr id="14" name="TextBox 13"/>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A simpler question sheet is a credible alternative. The pilot should test whether this experience adds value.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APPENDIX  ·  MARKET EVIDENCE</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12</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The category exists. Our demand is still to test.</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276856"/>
            <a:ext cx="2194560" cy="274320"/>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REFERENCE</a:t>
            </a:r>
          </a:p>
        </p:txBody>
      </p:sp>
      <p:sp>
        <p:nvSpPr>
          <p:cNvPr id="8" name="TextBox 7"/>
          <p:cNvSpPr txBox="1"/>
          <p:nvPr/>
        </p:nvSpPr>
        <p:spPr>
          <a:xfrm>
            <a:off x="3108960" y="2276856"/>
            <a:ext cx="4389120" cy="274320"/>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EVIDENCE</a:t>
            </a:r>
          </a:p>
        </p:txBody>
      </p:sp>
      <p:sp>
        <p:nvSpPr>
          <p:cNvPr id="9" name="TextBox 8"/>
          <p:cNvSpPr txBox="1"/>
          <p:nvPr/>
        </p:nvSpPr>
        <p:spPr>
          <a:xfrm>
            <a:off x="7918704" y="2276856"/>
            <a:ext cx="3657600" cy="274320"/>
          </a:xfrm>
          <a:prstGeom prst="rect">
            <a:avLst/>
          </a:prstGeom>
          <a:noFill/>
        </p:spPr>
        <p:txBody>
          <a:bodyPr wrap="square" lIns="0" rIns="0" tIns="0" bIns="0">
            <a:spAutoFit/>
          </a:bodyPr>
          <a:lstStyle/>
          <a:p>
            <a:pPr algn="l">
              <a:lnSpc>
                <a:spcPct val="110000"/>
              </a:lnSpc>
              <a:spcAft>
                <a:spcPts val="500"/>
              </a:spcAft>
            </a:pPr>
            <a:r>
              <a:rPr sz="1200" b="1">
                <a:solidFill>
                  <a:srgbClr val="7A2E2E"/>
                </a:solidFill>
                <a:latin typeface="Arial"/>
              </a:rPr>
              <a:t>WHAT IT DOES NOT PROVE</a:t>
            </a:r>
          </a:p>
        </p:txBody>
      </p:sp>
      <p:cxnSp>
        <p:nvCxnSpPr>
          <p:cNvPr id="10" name="Connector 9"/>
          <p:cNvCxnSpPr/>
          <p:nvPr/>
        </p:nvCxnSpPr>
        <p:spPr>
          <a:xfrm>
            <a:off x="594360" y="272491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594360" y="2816352"/>
            <a:ext cx="2286000" cy="420624"/>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Georgia"/>
              </a:rPr>
              <a:t>Marco Polo</a:t>
            </a:r>
          </a:p>
        </p:txBody>
      </p:sp>
      <p:sp>
        <p:nvSpPr>
          <p:cNvPr id="12" name="TextBox 11"/>
          <p:cNvSpPr txBox="1"/>
          <p:nvPr/>
        </p:nvSpPr>
        <p:spPr>
          <a:xfrm>
            <a:off x="3108960" y="2816352"/>
            <a:ext cx="4389120" cy="566928"/>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Arial"/>
              </a:rPr>
              <a:t>Asynchronous video exchange</a:t>
            </a:r>
          </a:p>
        </p:txBody>
      </p:sp>
      <p:sp>
        <p:nvSpPr>
          <p:cNvPr id="13" name="TextBox 12"/>
          <p:cNvSpPr txBox="1"/>
          <p:nvPr/>
        </p:nvSpPr>
        <p:spPr>
          <a:xfrm>
            <a:off x="7918704" y="2816352"/>
            <a:ext cx="3657600" cy="566928"/>
          </a:xfrm>
          <a:prstGeom prst="rect">
            <a:avLst/>
          </a:prstGeom>
          <a:noFill/>
        </p:spPr>
        <p:txBody>
          <a:bodyPr wrap="square" lIns="0" rIns="0" tIns="0" bIns="0">
            <a:spAutoFit/>
          </a:bodyPr>
          <a:lstStyle/>
          <a:p>
            <a:pPr algn="l">
              <a:lnSpc>
                <a:spcPct val="110000"/>
              </a:lnSpc>
              <a:spcAft>
                <a:spcPts val="500"/>
              </a:spcAft>
            </a:pPr>
            <a:r>
              <a:rPr sz="1700" b="0">
                <a:solidFill>
                  <a:srgbClr val="6B6358"/>
                </a:solidFill>
                <a:latin typeface="Arial"/>
              </a:rPr>
              <a:t>Our product demand or market size</a:t>
            </a:r>
          </a:p>
        </p:txBody>
      </p:sp>
      <p:cxnSp>
        <p:nvCxnSpPr>
          <p:cNvPr id="14" name="Connector 13"/>
          <p:cNvCxnSpPr/>
          <p:nvPr/>
        </p:nvCxnSpPr>
        <p:spPr>
          <a:xfrm>
            <a:off x="594360" y="3383279"/>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94360" y="3474720"/>
            <a:ext cx="2286000" cy="420624"/>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Georgia"/>
              </a:rPr>
              <a:t>Storyworth</a:t>
            </a:r>
          </a:p>
        </p:txBody>
      </p:sp>
      <p:sp>
        <p:nvSpPr>
          <p:cNvPr id="16" name="TextBox 15"/>
          <p:cNvSpPr txBox="1"/>
          <p:nvPr/>
        </p:nvSpPr>
        <p:spPr>
          <a:xfrm>
            <a:off x="3108960" y="3474720"/>
            <a:ext cx="4389120" cy="566928"/>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Arial"/>
              </a:rPr>
              <a:t>Paid plans: $69 / $99 / $199</a:t>
            </a:r>
          </a:p>
        </p:txBody>
      </p:sp>
      <p:sp>
        <p:nvSpPr>
          <p:cNvPr id="17" name="TextBox 16"/>
          <p:cNvSpPr txBox="1"/>
          <p:nvPr/>
        </p:nvSpPr>
        <p:spPr>
          <a:xfrm>
            <a:off x="7918704" y="3474720"/>
            <a:ext cx="3657600" cy="566928"/>
          </a:xfrm>
          <a:prstGeom prst="rect">
            <a:avLst/>
          </a:prstGeom>
          <a:noFill/>
        </p:spPr>
        <p:txBody>
          <a:bodyPr wrap="square" lIns="0" rIns="0" tIns="0" bIns="0">
            <a:spAutoFit/>
          </a:bodyPr>
          <a:lstStyle/>
          <a:p>
            <a:pPr algn="l">
              <a:lnSpc>
                <a:spcPct val="110000"/>
              </a:lnSpc>
              <a:spcAft>
                <a:spcPts val="500"/>
              </a:spcAft>
            </a:pPr>
            <a:r>
              <a:rPr sz="1700" b="0">
                <a:solidFill>
                  <a:srgbClr val="6B6358"/>
                </a:solidFill>
                <a:latin typeface="Arial"/>
              </a:rPr>
              <a:t>Our conversion rate or sales</a:t>
            </a:r>
          </a:p>
        </p:txBody>
      </p:sp>
      <p:cxnSp>
        <p:nvCxnSpPr>
          <p:cNvPr id="18" name="Connector 17"/>
          <p:cNvCxnSpPr/>
          <p:nvPr/>
        </p:nvCxnSpPr>
        <p:spPr>
          <a:xfrm>
            <a:off x="594360" y="4041648"/>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94360" y="4133087"/>
            <a:ext cx="2286000" cy="420624"/>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Georgia"/>
              </a:rPr>
              <a:t>Remento</a:t>
            </a:r>
          </a:p>
        </p:txBody>
      </p:sp>
      <p:sp>
        <p:nvSpPr>
          <p:cNvPr id="20" name="TextBox 19"/>
          <p:cNvSpPr txBox="1"/>
          <p:nvPr/>
        </p:nvSpPr>
        <p:spPr>
          <a:xfrm>
            <a:off x="3108960" y="4133087"/>
            <a:ext cx="4389120" cy="566928"/>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Arial"/>
              </a:rPr>
              <a:t>A $99 year/book package with QR stories</a:t>
            </a:r>
          </a:p>
        </p:txBody>
      </p:sp>
      <p:sp>
        <p:nvSpPr>
          <p:cNvPr id="21" name="TextBox 20"/>
          <p:cNvSpPr txBox="1"/>
          <p:nvPr/>
        </p:nvSpPr>
        <p:spPr>
          <a:xfrm>
            <a:off x="7918704" y="4133087"/>
            <a:ext cx="3657600" cy="566928"/>
          </a:xfrm>
          <a:prstGeom prst="rect">
            <a:avLst/>
          </a:prstGeom>
          <a:noFill/>
        </p:spPr>
        <p:txBody>
          <a:bodyPr wrap="square" lIns="0" rIns="0" tIns="0" bIns="0">
            <a:spAutoFit/>
          </a:bodyPr>
          <a:lstStyle/>
          <a:p>
            <a:pPr algn="l">
              <a:lnSpc>
                <a:spcPct val="110000"/>
              </a:lnSpc>
              <a:spcAft>
                <a:spcPts val="500"/>
              </a:spcAft>
            </a:pPr>
            <a:r>
              <a:rPr sz="1700" b="0">
                <a:solidFill>
                  <a:srgbClr val="6B6358"/>
                </a:solidFill>
                <a:latin typeface="Arial"/>
              </a:rPr>
              <a:t>An exclusive feature advantage</a:t>
            </a:r>
          </a:p>
        </p:txBody>
      </p:sp>
      <p:cxnSp>
        <p:nvCxnSpPr>
          <p:cNvPr id="22" name="Connector 21"/>
          <p:cNvCxnSpPr/>
          <p:nvPr/>
        </p:nvCxnSpPr>
        <p:spPr>
          <a:xfrm>
            <a:off x="594360" y="4700016"/>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594360" y="4791456"/>
            <a:ext cx="2286000" cy="420624"/>
          </a:xfrm>
          <a:prstGeom prst="rect">
            <a:avLst/>
          </a:prstGeom>
          <a:noFill/>
        </p:spPr>
        <p:txBody>
          <a:bodyPr wrap="square" lIns="0" rIns="0" tIns="0" bIns="0">
            <a:spAutoFit/>
          </a:bodyPr>
          <a:lstStyle/>
          <a:p>
            <a:pPr algn="l">
              <a:lnSpc>
                <a:spcPct val="110000"/>
              </a:lnSpc>
              <a:spcAft>
                <a:spcPts val="500"/>
              </a:spcAft>
            </a:pPr>
            <a:r>
              <a:rPr sz="2000" b="0">
                <a:solidFill>
                  <a:srgbClr val="2A2520"/>
                </a:solidFill>
                <a:latin typeface="Georgia"/>
              </a:rPr>
              <a:t>Pew Research</a:t>
            </a:r>
          </a:p>
        </p:txBody>
      </p:sp>
      <p:sp>
        <p:nvSpPr>
          <p:cNvPr id="24" name="TextBox 23"/>
          <p:cNvSpPr txBox="1"/>
          <p:nvPr/>
        </p:nvSpPr>
        <p:spPr>
          <a:xfrm>
            <a:off x="3108960" y="4791456"/>
            <a:ext cx="4389120" cy="566928"/>
          </a:xfrm>
          <a:prstGeom prst="rect">
            <a:avLst/>
          </a:prstGeom>
          <a:noFill/>
        </p:spPr>
        <p:txBody>
          <a:bodyPr wrap="square" lIns="0" rIns="0" tIns="0" bIns="0">
            <a:spAutoFit/>
          </a:bodyPr>
          <a:lstStyle/>
          <a:p>
            <a:pPr algn="l">
              <a:lnSpc>
                <a:spcPct val="110000"/>
              </a:lnSpc>
              <a:spcAft>
                <a:spcPts val="500"/>
              </a:spcAft>
            </a:pPr>
            <a:r>
              <a:rPr sz="1800" b="0">
                <a:solidFill>
                  <a:srgbClr val="2A2520"/>
                </a:solidFill>
                <a:latin typeface="Arial"/>
              </a:rPr>
              <a:t>1 in 5 had no extended family within an hour</a:t>
            </a:r>
          </a:p>
        </p:txBody>
      </p:sp>
      <p:sp>
        <p:nvSpPr>
          <p:cNvPr id="25" name="TextBox 24"/>
          <p:cNvSpPr txBox="1"/>
          <p:nvPr/>
        </p:nvSpPr>
        <p:spPr>
          <a:xfrm>
            <a:off x="7918704" y="4791456"/>
            <a:ext cx="3657600" cy="566928"/>
          </a:xfrm>
          <a:prstGeom prst="rect">
            <a:avLst/>
          </a:prstGeom>
          <a:noFill/>
        </p:spPr>
        <p:txBody>
          <a:bodyPr wrap="square" lIns="0" rIns="0" tIns="0" bIns="0">
            <a:spAutoFit/>
          </a:bodyPr>
          <a:lstStyle/>
          <a:p>
            <a:pPr algn="l">
              <a:lnSpc>
                <a:spcPct val="110000"/>
              </a:lnSpc>
              <a:spcAft>
                <a:spcPts val="500"/>
              </a:spcAft>
            </a:pPr>
            <a:r>
              <a:rPr sz="1700" b="0">
                <a:solidFill>
                  <a:srgbClr val="6B6358"/>
                </a:solidFill>
                <a:latin typeface="Arial"/>
              </a:rPr>
              <a:t>Increasing loneliness or willingness to pay</a:t>
            </a:r>
          </a:p>
        </p:txBody>
      </p:sp>
      <p:sp>
        <p:nvSpPr>
          <p:cNvPr id="26" name="TextBox 25"/>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U.S. research and official product sources. Prices checked October 2, 2026; details and caveats in speaker notes.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6EF"/>
        </a:solidFill>
        <a:effectLst/>
      </p:bgPr>
    </p:bg>
    <p:spTree>
      <p:nvGrpSpPr>
        <p:cNvPr id="1" name=""/>
        <p:cNvGrpSpPr/>
        <p:nvPr/>
      </p:nvGrpSpPr>
      <p:grpSpPr/>
      <p:sp>
        <p:nvSpPr>
          <p:cNvPr id="2" name="TextBox 1"/>
          <p:cNvSpPr txBox="1"/>
          <p:nvPr/>
        </p:nvSpPr>
        <p:spPr>
          <a:xfrm>
            <a:off x="594360" y="237744"/>
            <a:ext cx="9144000" cy="228600"/>
          </a:xfrm>
          <a:prstGeom prst="rect">
            <a:avLst/>
          </a:prstGeom>
          <a:noFill/>
        </p:spPr>
        <p:txBody>
          <a:bodyPr wrap="square" lIns="0" rIns="0" tIns="0" bIns="0">
            <a:spAutoFit/>
          </a:bodyPr>
          <a:lstStyle/>
          <a:p>
            <a:pPr algn="l">
              <a:lnSpc>
                <a:spcPct val="110000"/>
              </a:lnSpc>
              <a:spcAft>
                <a:spcPts val="500"/>
              </a:spcAft>
            </a:pPr>
            <a:r>
              <a:rPr sz="1100" b="1">
                <a:solidFill>
                  <a:srgbClr val="7A2E2E"/>
                </a:solidFill>
                <a:latin typeface="Arial"/>
              </a:rPr>
              <a:t>APPENDIX  ·  SOURCES AND FINAL CHECKS</a:t>
            </a:r>
          </a:p>
        </p:txBody>
      </p:sp>
      <p:sp>
        <p:nvSpPr>
          <p:cNvPr id="3" name="TextBox 2"/>
          <p:cNvSpPr txBox="1"/>
          <p:nvPr/>
        </p:nvSpPr>
        <p:spPr>
          <a:xfrm>
            <a:off x="10515600" y="237744"/>
            <a:ext cx="1078992" cy="228600"/>
          </a:xfrm>
          <a:prstGeom prst="rect">
            <a:avLst/>
          </a:prstGeom>
          <a:noFill/>
        </p:spPr>
        <p:txBody>
          <a:bodyPr wrap="square" lIns="0" rIns="0" tIns="0" bIns="0">
            <a:spAutoFit/>
          </a:bodyPr>
          <a:lstStyle/>
          <a:p>
            <a:pPr algn="r">
              <a:lnSpc>
                <a:spcPct val="110000"/>
              </a:lnSpc>
              <a:spcAft>
                <a:spcPts val="500"/>
              </a:spcAft>
            </a:pPr>
            <a:r>
              <a:rPr sz="1100" b="0">
                <a:solidFill>
                  <a:srgbClr val="6B6358"/>
                </a:solidFill>
                <a:latin typeface="Arial"/>
              </a:rPr>
              <a:t>13</a:t>
            </a:r>
          </a:p>
        </p:txBody>
      </p:sp>
      <p:sp>
        <p:nvSpPr>
          <p:cNvPr id="4" name="TextBox 3"/>
          <p:cNvSpPr txBox="1"/>
          <p:nvPr/>
        </p:nvSpPr>
        <p:spPr>
          <a:xfrm>
            <a:off x="594360" y="777240"/>
            <a:ext cx="10972800" cy="1078992"/>
          </a:xfrm>
          <a:prstGeom prst="rect">
            <a:avLst/>
          </a:prstGeom>
          <a:noFill/>
        </p:spPr>
        <p:txBody>
          <a:bodyPr wrap="square" lIns="0" rIns="0" tIns="0" bIns="0">
            <a:spAutoFit/>
          </a:bodyPr>
          <a:lstStyle/>
          <a:p>
            <a:pPr algn="l">
              <a:lnSpc>
                <a:spcPct val="110000"/>
              </a:lnSpc>
              <a:spcAft>
                <a:spcPts val="500"/>
              </a:spcAft>
            </a:pPr>
            <a:r>
              <a:rPr sz="3700" b="0">
                <a:solidFill>
                  <a:srgbClr val="2A2520"/>
                </a:solidFill>
                <a:latin typeface="Georgia"/>
              </a:rPr>
              <a:t>What supports the story, and what comes next.</a:t>
            </a:r>
          </a:p>
        </p:txBody>
      </p:sp>
      <p:cxnSp>
        <p:nvCxnSpPr>
          <p:cNvPr id="5" name="Connector 4"/>
          <p:cNvCxnSpPr/>
          <p:nvPr/>
        </p:nvCxnSpPr>
        <p:spPr>
          <a:xfrm>
            <a:off x="594360" y="6473952"/>
            <a:ext cx="10972800" cy="0"/>
          </a:xfrm>
          <a:prstGeom prst="line">
            <a:avLst/>
          </a:prstGeom>
          <a:ln w="10160">
            <a:solidFill>
              <a:srgbClr val="D4CCC0"/>
            </a:solidFill>
          </a:ln>
          <a:effectLst/>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94360" y="6601968"/>
            <a:ext cx="9144000" cy="182880"/>
          </a:xfrm>
          <a:prstGeom prst="rect">
            <a:avLst/>
          </a:prstGeom>
          <a:noFill/>
        </p:spPr>
        <p:txBody>
          <a:bodyPr wrap="square" lIns="0" rIns="0" tIns="0" bIns="0">
            <a:spAutoFit/>
          </a:bodyPr>
          <a:lstStyle/>
          <a:p>
            <a:pPr algn="l">
              <a:lnSpc>
                <a:spcPct val="110000"/>
              </a:lnSpc>
              <a:spcAft>
                <a:spcPts val="500"/>
              </a:spcAft>
            </a:pPr>
            <a:r>
              <a:rPr sz="900" b="0">
                <a:solidFill>
                  <a:srgbClr val="6B6358"/>
                </a:solidFill>
                <a:latin typeface="Arial"/>
              </a:rPr>
              <a:t>time tapestry  /  Gloo AI Hackathon  /  October 2026  /  Editable draft v3</a:t>
            </a:r>
          </a:p>
        </p:txBody>
      </p:sp>
      <p:sp>
        <p:nvSpPr>
          <p:cNvPr id="7" name="TextBox 6"/>
          <p:cNvSpPr txBox="1"/>
          <p:nvPr/>
        </p:nvSpPr>
        <p:spPr>
          <a:xfrm>
            <a:off x="594360" y="2167128"/>
            <a:ext cx="5212080" cy="329184"/>
          </a:xfrm>
          <a:prstGeom prst="rect">
            <a:avLst/>
          </a:prstGeom>
          <a:noFill/>
        </p:spPr>
        <p:txBody>
          <a:bodyPr wrap="square" lIns="0" rIns="0" tIns="0" bIns="0">
            <a:spAutoFit/>
          </a:bodyPr>
          <a:lstStyle/>
          <a:p>
            <a:pPr algn="l">
              <a:lnSpc>
                <a:spcPct val="110000"/>
              </a:lnSpc>
              <a:spcAft>
                <a:spcPts val="500"/>
              </a:spcAft>
            </a:pPr>
            <a:r>
              <a:rPr sz="1300" b="1">
                <a:solidFill>
                  <a:srgbClr val="7A2E2E"/>
                </a:solidFill>
                <a:latin typeface="Arial"/>
              </a:rPr>
              <a:t>PRIMARY SOURCES</a:t>
            </a:r>
          </a:p>
        </p:txBody>
      </p:sp>
      <p:sp>
        <p:nvSpPr>
          <p:cNvPr id="8" name="TextBox 7"/>
          <p:cNvSpPr txBox="1"/>
          <p:nvPr/>
        </p:nvSpPr>
        <p:spPr>
          <a:xfrm>
            <a:off x="594360" y="2706624"/>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2"/>
              </a:rPr>
              <a:t>Edward Jones / Age Wave, 2021</a:t>
            </a:r>
          </a:p>
        </p:txBody>
      </p:sp>
      <p:sp>
        <p:nvSpPr>
          <p:cNvPr id="9" name="TextBox 8"/>
          <p:cNvSpPr txBox="1"/>
          <p:nvPr/>
        </p:nvSpPr>
        <p:spPr>
          <a:xfrm>
            <a:off x="594360" y="3017520"/>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3"/>
              </a:rPr>
              <a:t>Barna, 2023 report</a:t>
            </a:r>
          </a:p>
        </p:txBody>
      </p:sp>
      <p:sp>
        <p:nvSpPr>
          <p:cNvPr id="10" name="TextBox 9"/>
          <p:cNvSpPr txBox="1"/>
          <p:nvPr/>
        </p:nvSpPr>
        <p:spPr>
          <a:xfrm>
            <a:off x="594360" y="3328416"/>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4"/>
              </a:rPr>
              <a:t>IU Women Give, 2013</a:t>
            </a:r>
          </a:p>
        </p:txBody>
      </p:sp>
      <p:sp>
        <p:nvSpPr>
          <p:cNvPr id="11" name="TextBox 10"/>
          <p:cNvSpPr txBox="1"/>
          <p:nvPr/>
        </p:nvSpPr>
        <p:spPr>
          <a:xfrm>
            <a:off x="594360" y="3639312"/>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5"/>
              </a:rPr>
              <a:t>Marco Polo, official fact sheet</a:t>
            </a:r>
          </a:p>
        </p:txBody>
      </p:sp>
      <p:sp>
        <p:nvSpPr>
          <p:cNvPr id="12" name="TextBox 11"/>
          <p:cNvSpPr txBox="1"/>
          <p:nvPr/>
        </p:nvSpPr>
        <p:spPr>
          <a:xfrm>
            <a:off x="594360" y="3950208"/>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6"/>
              </a:rPr>
              <a:t>Pew Research Center, 2022</a:t>
            </a:r>
          </a:p>
        </p:txBody>
      </p:sp>
      <p:sp>
        <p:nvSpPr>
          <p:cNvPr id="13" name="TextBox 12"/>
          <p:cNvSpPr txBox="1"/>
          <p:nvPr/>
        </p:nvSpPr>
        <p:spPr>
          <a:xfrm>
            <a:off x="594360" y="4261104"/>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7"/>
              </a:rPr>
              <a:t>Storyworth, pricing help</a:t>
            </a:r>
          </a:p>
        </p:txBody>
      </p:sp>
      <p:sp>
        <p:nvSpPr>
          <p:cNvPr id="14" name="TextBox 13"/>
          <p:cNvSpPr txBox="1"/>
          <p:nvPr/>
        </p:nvSpPr>
        <p:spPr>
          <a:xfrm>
            <a:off x="594360" y="4572000"/>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8"/>
              </a:rPr>
              <a:t>Remento, pricing guide</a:t>
            </a:r>
          </a:p>
        </p:txBody>
      </p:sp>
      <p:sp>
        <p:nvSpPr>
          <p:cNvPr id="15" name="TextBox 14"/>
          <p:cNvSpPr txBox="1"/>
          <p:nvPr/>
        </p:nvSpPr>
        <p:spPr>
          <a:xfrm>
            <a:off x="594360" y="4882896"/>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9"/>
              </a:rPr>
              <a:t>Gloo, official rules</a:t>
            </a:r>
          </a:p>
        </p:txBody>
      </p:sp>
      <p:sp>
        <p:nvSpPr>
          <p:cNvPr id="16" name="TextBox 15"/>
          <p:cNvSpPr txBox="1"/>
          <p:nvPr/>
        </p:nvSpPr>
        <p:spPr>
          <a:xfrm>
            <a:off x="594360" y="5193792"/>
            <a:ext cx="5943600" cy="274320"/>
          </a:xfrm>
          <a:prstGeom prst="rect">
            <a:avLst/>
          </a:prstGeom>
          <a:noFill/>
        </p:spPr>
        <p:txBody>
          <a:bodyPr wrap="square" lIns="0" rIns="0" tIns="0" bIns="0">
            <a:spAutoFit/>
          </a:bodyPr>
          <a:lstStyle/>
          <a:p>
            <a:pPr algn="l">
              <a:lnSpc>
                <a:spcPct val="110000"/>
              </a:lnSpc>
              <a:spcAft>
                <a:spcPts val="500"/>
              </a:spcAft>
            </a:pPr>
            <a:r>
              <a:rPr sz="1400" b="0">
                <a:solidFill>
                  <a:srgbClr val="6B6358"/>
                </a:solidFill>
                <a:latin typeface="Arial"/>
                <a:hlinkClick r:id="rId10"/>
              </a:rPr>
              <a:t>Build and QA evidence</a:t>
            </a:r>
          </a:p>
        </p:txBody>
      </p:sp>
      <p:sp>
        <p:nvSpPr>
          <p:cNvPr id="17" name="TextBox 16"/>
          <p:cNvSpPr txBox="1"/>
          <p:nvPr/>
        </p:nvSpPr>
        <p:spPr>
          <a:xfrm>
            <a:off x="7223760" y="2167128"/>
            <a:ext cx="4251960" cy="329184"/>
          </a:xfrm>
          <a:prstGeom prst="rect">
            <a:avLst/>
          </a:prstGeom>
          <a:noFill/>
        </p:spPr>
        <p:txBody>
          <a:bodyPr wrap="square" lIns="0" rIns="0" tIns="0" bIns="0">
            <a:spAutoFit/>
          </a:bodyPr>
          <a:lstStyle/>
          <a:p>
            <a:pPr algn="l">
              <a:lnSpc>
                <a:spcPct val="110000"/>
              </a:lnSpc>
              <a:spcAft>
                <a:spcPts val="500"/>
              </a:spcAft>
            </a:pPr>
            <a:r>
              <a:rPr sz="1300" b="1">
                <a:solidFill>
                  <a:srgbClr val="7A2E2E"/>
                </a:solidFill>
                <a:latin typeface="Arial"/>
              </a:rPr>
              <a:t>BEFORE THE FINAL RECORDING</a:t>
            </a:r>
          </a:p>
        </p:txBody>
      </p:sp>
      <p:sp>
        <p:nvSpPr>
          <p:cNvPr id="18" name="TextBox 17"/>
          <p:cNvSpPr txBox="1"/>
          <p:nvPr/>
        </p:nvSpPr>
        <p:spPr>
          <a:xfrm>
            <a:off x="7223760" y="2816352"/>
            <a:ext cx="4160520" cy="2697480"/>
          </a:xfrm>
          <a:prstGeom prst="rect">
            <a:avLst/>
          </a:prstGeom>
          <a:noFill/>
        </p:spPr>
        <p:txBody>
          <a:bodyPr wrap="square" lIns="0" rIns="0" tIns="0" bIns="0">
            <a:spAutoFit/>
          </a:bodyPr>
          <a:lstStyle/>
          <a:p>
            <a:pPr algn="l">
              <a:lnSpc>
                <a:spcPct val="110000"/>
              </a:lnSpc>
              <a:spcAft>
                <a:spcPts val="500"/>
              </a:spcAft>
            </a:pPr>
            <a:r>
              <a:rPr sz="1900" b="0">
                <a:solidFill>
                  <a:srgbClr val="2A2520"/>
                </a:solidFill>
                <a:latin typeface="Arial"/>
              </a:rPr>
              <a:t>Kaelyn: live voice, transcription, phone recording and cloud playback.</a:t>
            </a:r>
          </a:p>
          <a:p>
            <a:pPr algn="l">
              <a:lnSpc>
                <a:spcPct val="110000"/>
              </a:lnSpc>
              <a:spcAft>
                <a:spcPts val="500"/>
              </a:spcAft>
            </a:pPr>
            <a:r>
              <a:rPr sz="1900" b="0">
                <a:solidFill>
                  <a:srgbClr val="2A2520"/>
                </a:solidFill>
                <a:latin typeface="Arial"/>
              </a:rPr>
              <a:t/>
            </a:r>
          </a:p>
          <a:p>
            <a:pPr algn="l">
              <a:lnSpc>
                <a:spcPct val="110000"/>
              </a:lnSpc>
              <a:spcAft>
                <a:spcPts val="500"/>
              </a:spcAft>
            </a:pPr>
            <a:r>
              <a:rPr sz="1900" b="0">
                <a:solidFill>
                  <a:srgbClr val="2A2520"/>
                </a:solidFill>
                <a:latin typeface="Arial"/>
              </a:rPr>
              <a:t>Tayloe: approved logo, consenting story and editorial review.</a:t>
            </a:r>
          </a:p>
          <a:p>
            <a:pPr algn="l">
              <a:lnSpc>
                <a:spcPct val="110000"/>
              </a:lnSpc>
              <a:spcAft>
                <a:spcPts val="500"/>
              </a:spcAft>
            </a:pPr>
            <a:r>
              <a:rPr sz="1900" b="0">
                <a:solidFill>
                  <a:srgbClr val="2A2520"/>
                </a:solidFill>
                <a:latin typeface="Arial"/>
              </a:rPr>
              <a:t/>
            </a:r>
          </a:p>
          <a:p>
            <a:pPr algn="l">
              <a:lnSpc>
                <a:spcPct val="110000"/>
              </a:lnSpc>
              <a:spcAft>
                <a:spcPts val="500"/>
              </a:spcAft>
            </a:pPr>
            <a:r>
              <a:rPr sz="1900" b="0">
                <a:solidFill>
                  <a:srgbClr val="2A2520"/>
                </a:solidFill>
                <a:latin typeface="Arial"/>
              </a:rPr>
              <a:t>Together: provider tests and a timed rehearsal.</a:t>
            </a:r>
          </a:p>
        </p:txBody>
      </p:sp>
      <p:sp>
        <p:nvSpPr>
          <p:cNvPr id="19" name="TextBox 18"/>
          <p:cNvSpPr txBox="1"/>
          <p:nvPr/>
        </p:nvSpPr>
        <p:spPr>
          <a:xfrm>
            <a:off x="594360" y="6071616"/>
            <a:ext cx="10972800" cy="320040"/>
          </a:xfrm>
          <a:prstGeom prst="rect">
            <a:avLst/>
          </a:prstGeom>
          <a:noFill/>
        </p:spPr>
        <p:txBody>
          <a:bodyPr wrap="square" lIns="0" rIns="0" tIns="0" bIns="0">
            <a:spAutoFit/>
          </a:bodyPr>
          <a:lstStyle/>
          <a:p>
            <a:pPr algn="l">
              <a:lnSpc>
                <a:spcPct val="110000"/>
              </a:lnSpc>
              <a:spcAft>
                <a:spcPts val="500"/>
              </a:spcAft>
            </a:pPr>
            <a:r>
              <a:rPr sz="1200" b="0">
                <a:solidFill>
                  <a:srgbClr val="6B6358"/>
                </a:solidFill>
                <a:latin typeface="Arial"/>
              </a:rPr>
              <a:t>Research supports the problem and the hypothesis. Product outcomes require product evidence.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Time Tapestry | Gloo Hackathon Pitch v3</dc:title>
  <dc:subject>Editable pitch, current build, market evidence and presenter notes</dc:subject>
  <dc:creator>Tayloe Hansen and Kaelyn</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